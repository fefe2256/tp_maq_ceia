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0" d="100"/>
          <a:sy n="150" d="100"/>
        </p:scale>
        <p:origin x="47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51113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E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5143500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40680" y="0"/>
            <a:ext cx="54864" cy="51435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11480"/>
            <a:ext cx="777240" cy="777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43891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BFA5"/>
                </a:solidFill>
              </a:rPr>
              <a:t>ECOBICI  ×  MACHINE LEARNING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02920" y="1097280"/>
            <a:ext cx="4754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Predicción de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Duración de Viajes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502920" y="28346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0F0FF"/>
                </a:solidFill>
              </a:rPr>
              <a:t>Clasificación multiclase supervisada con 5 modelos de ML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02920" y="3418078"/>
            <a:ext cx="2560320" cy="32004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3474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A3C7"/>
                </a:solidFill>
              </a:rPr>
              <a:t>Grupo 7  </a:t>
            </a:r>
            <a:r>
              <a:rPr lang="en-US" sz="1100" dirty="0">
                <a:solidFill>
                  <a:srgbClr val="8BA3C7"/>
                </a:solidFill>
              </a:rPr>
              <a:t>—  Aprendizaje de Máquina</a:t>
            </a:r>
            <a:endParaRPr lang="en-US" sz="1100" dirty="0"/>
          </a:p>
        </p:txBody>
      </p:sp>
      <p:sp>
        <p:nvSpPr>
          <p:cNvPr id="24" name="Shape 7">
            <a:extLst>
              <a:ext uri="{FF2B5EF4-FFF2-40B4-BE49-F238E27FC236}">
                <a16:creationId xmlns:a16="http://schemas.microsoft.com/office/drawing/2014/main" id="{F82D4586-57DE-4E6A-ACA9-FB8924D1E45B}"/>
              </a:ext>
            </a:extLst>
          </p:cNvPr>
          <p:cNvSpPr/>
          <p:nvPr/>
        </p:nvSpPr>
        <p:spPr>
          <a:xfrm>
            <a:off x="5852160" y="960120"/>
            <a:ext cx="1562354" cy="1005840"/>
          </a:xfrm>
          <a:prstGeom prst="roundRect">
            <a:avLst>
              <a:gd name="adj" fmla="val 11364"/>
            </a:avLst>
          </a:prstGeom>
          <a:solidFill>
            <a:srgbClr val="162348"/>
          </a:solidFill>
          <a:ln/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Text 8">
            <a:extLst>
              <a:ext uri="{FF2B5EF4-FFF2-40B4-BE49-F238E27FC236}">
                <a16:creationId xmlns:a16="http://schemas.microsoft.com/office/drawing/2014/main" id="{E57CEE55-C37E-4A06-8EC0-153A2F3EDFAB}"/>
              </a:ext>
            </a:extLst>
          </p:cNvPr>
          <p:cNvSpPr/>
          <p:nvPr/>
        </p:nvSpPr>
        <p:spPr>
          <a:xfrm>
            <a:off x="5852160" y="1069848"/>
            <a:ext cx="15623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BFA5"/>
                </a:solidFill>
              </a:rPr>
              <a:t>~3.2M</a:t>
            </a:r>
            <a:endParaRPr lang="en-US" sz="2400" dirty="0"/>
          </a:p>
        </p:txBody>
      </p:sp>
      <p:sp>
        <p:nvSpPr>
          <p:cNvPr id="26" name="Text 9">
            <a:extLst>
              <a:ext uri="{FF2B5EF4-FFF2-40B4-BE49-F238E27FC236}">
                <a16:creationId xmlns:a16="http://schemas.microsoft.com/office/drawing/2014/main" id="{4B61EBF2-D751-43A3-B76B-EDA09931AD32}"/>
              </a:ext>
            </a:extLst>
          </p:cNvPr>
          <p:cNvSpPr/>
          <p:nvPr/>
        </p:nvSpPr>
        <p:spPr>
          <a:xfrm>
            <a:off x="5852160" y="1554480"/>
            <a:ext cx="15623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3C7"/>
                </a:solidFill>
              </a:rPr>
              <a:t>registros</a:t>
            </a:r>
            <a:endParaRPr lang="en-US" sz="1000" dirty="0"/>
          </a:p>
        </p:txBody>
      </p:sp>
      <p:sp>
        <p:nvSpPr>
          <p:cNvPr id="27" name="Shape 10">
            <a:extLst>
              <a:ext uri="{FF2B5EF4-FFF2-40B4-BE49-F238E27FC236}">
                <a16:creationId xmlns:a16="http://schemas.microsoft.com/office/drawing/2014/main" id="{C12DD409-EFE5-4F53-98CA-53C79708FA5A}"/>
              </a:ext>
            </a:extLst>
          </p:cNvPr>
          <p:cNvSpPr/>
          <p:nvPr/>
        </p:nvSpPr>
        <p:spPr>
          <a:xfrm>
            <a:off x="7492873" y="960120"/>
            <a:ext cx="1562354" cy="1005840"/>
          </a:xfrm>
          <a:prstGeom prst="roundRect">
            <a:avLst>
              <a:gd name="adj" fmla="val 11364"/>
            </a:avLst>
          </a:prstGeom>
          <a:solidFill>
            <a:srgbClr val="162348"/>
          </a:solidFill>
          <a:ln/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8" name="Text 11">
            <a:extLst>
              <a:ext uri="{FF2B5EF4-FFF2-40B4-BE49-F238E27FC236}">
                <a16:creationId xmlns:a16="http://schemas.microsoft.com/office/drawing/2014/main" id="{A577A442-BDAD-4D08-9889-EE8FD49A4DA2}"/>
              </a:ext>
            </a:extLst>
          </p:cNvPr>
          <p:cNvSpPr/>
          <p:nvPr/>
        </p:nvSpPr>
        <p:spPr>
          <a:xfrm>
            <a:off x="7492873" y="1069848"/>
            <a:ext cx="15623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BFA5"/>
                </a:solidFill>
              </a:rPr>
              <a:t>19</a:t>
            </a:r>
            <a:endParaRPr lang="en-US" sz="2400" dirty="0"/>
          </a:p>
        </p:txBody>
      </p:sp>
      <p:sp>
        <p:nvSpPr>
          <p:cNvPr id="29" name="Text 12">
            <a:extLst>
              <a:ext uri="{FF2B5EF4-FFF2-40B4-BE49-F238E27FC236}">
                <a16:creationId xmlns:a16="http://schemas.microsoft.com/office/drawing/2014/main" id="{D89CD8FD-7974-449F-9982-EF5607BB77BA}"/>
              </a:ext>
            </a:extLst>
          </p:cNvPr>
          <p:cNvSpPr/>
          <p:nvPr/>
        </p:nvSpPr>
        <p:spPr>
          <a:xfrm>
            <a:off x="7492873" y="1554480"/>
            <a:ext cx="15623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3C7"/>
                </a:solidFill>
              </a:rPr>
              <a:t>features</a:t>
            </a:r>
            <a:endParaRPr lang="en-US" sz="1000" dirty="0"/>
          </a:p>
        </p:txBody>
      </p:sp>
      <p:sp>
        <p:nvSpPr>
          <p:cNvPr id="30" name="Shape 13">
            <a:extLst>
              <a:ext uri="{FF2B5EF4-FFF2-40B4-BE49-F238E27FC236}">
                <a16:creationId xmlns:a16="http://schemas.microsoft.com/office/drawing/2014/main" id="{CCC5D616-8965-4F28-B254-2A583E563872}"/>
              </a:ext>
            </a:extLst>
          </p:cNvPr>
          <p:cNvSpPr/>
          <p:nvPr/>
        </p:nvSpPr>
        <p:spPr>
          <a:xfrm>
            <a:off x="5852160" y="2148840"/>
            <a:ext cx="1562354" cy="1005840"/>
          </a:xfrm>
          <a:prstGeom prst="roundRect">
            <a:avLst>
              <a:gd name="adj" fmla="val 11364"/>
            </a:avLst>
          </a:prstGeom>
          <a:solidFill>
            <a:srgbClr val="162348"/>
          </a:solidFill>
          <a:ln/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1" name="Text 14">
            <a:extLst>
              <a:ext uri="{FF2B5EF4-FFF2-40B4-BE49-F238E27FC236}">
                <a16:creationId xmlns:a16="http://schemas.microsoft.com/office/drawing/2014/main" id="{E3A8340A-1304-41B0-B8BA-AFA4538C7A3D}"/>
              </a:ext>
            </a:extLst>
          </p:cNvPr>
          <p:cNvSpPr/>
          <p:nvPr/>
        </p:nvSpPr>
        <p:spPr>
          <a:xfrm>
            <a:off x="5852160" y="2258568"/>
            <a:ext cx="15623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BFA5"/>
                </a:solidFill>
              </a:rPr>
              <a:t>3</a:t>
            </a:r>
            <a:endParaRPr lang="en-US" sz="2400" dirty="0"/>
          </a:p>
        </p:txBody>
      </p:sp>
      <p:sp>
        <p:nvSpPr>
          <p:cNvPr id="32" name="Text 15">
            <a:extLst>
              <a:ext uri="{FF2B5EF4-FFF2-40B4-BE49-F238E27FC236}">
                <a16:creationId xmlns:a16="http://schemas.microsoft.com/office/drawing/2014/main" id="{3A507CA7-077E-47CA-91A3-08D65C2871EF}"/>
              </a:ext>
            </a:extLst>
          </p:cNvPr>
          <p:cNvSpPr/>
          <p:nvPr/>
        </p:nvSpPr>
        <p:spPr>
          <a:xfrm>
            <a:off x="5852160" y="2743200"/>
            <a:ext cx="15623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3C7"/>
                </a:solidFill>
              </a:rPr>
              <a:t>clases</a:t>
            </a:r>
            <a:endParaRPr lang="en-US" sz="1000" dirty="0"/>
          </a:p>
        </p:txBody>
      </p:sp>
      <p:sp>
        <p:nvSpPr>
          <p:cNvPr id="33" name="Shape 16">
            <a:extLst>
              <a:ext uri="{FF2B5EF4-FFF2-40B4-BE49-F238E27FC236}">
                <a16:creationId xmlns:a16="http://schemas.microsoft.com/office/drawing/2014/main" id="{65C31A3E-9D49-4224-B8DF-A3E976E6CB71}"/>
              </a:ext>
            </a:extLst>
          </p:cNvPr>
          <p:cNvSpPr/>
          <p:nvPr/>
        </p:nvSpPr>
        <p:spPr>
          <a:xfrm>
            <a:off x="7492873" y="2167128"/>
            <a:ext cx="1562354" cy="1005840"/>
          </a:xfrm>
          <a:prstGeom prst="roundRect">
            <a:avLst>
              <a:gd name="adj" fmla="val 11364"/>
            </a:avLst>
          </a:prstGeom>
          <a:solidFill>
            <a:srgbClr val="162348"/>
          </a:solidFill>
          <a:ln/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4" name="Text 17">
            <a:extLst>
              <a:ext uri="{FF2B5EF4-FFF2-40B4-BE49-F238E27FC236}">
                <a16:creationId xmlns:a16="http://schemas.microsoft.com/office/drawing/2014/main" id="{9DF6ABE3-E236-4712-B7E2-243AE713D984}"/>
              </a:ext>
            </a:extLst>
          </p:cNvPr>
          <p:cNvSpPr/>
          <p:nvPr/>
        </p:nvSpPr>
        <p:spPr>
          <a:xfrm>
            <a:off x="7492873" y="2276856"/>
            <a:ext cx="15623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BFA5"/>
                </a:solidFill>
              </a:rPr>
              <a:t>5</a:t>
            </a:r>
            <a:endParaRPr lang="en-US" sz="2400" dirty="0"/>
          </a:p>
        </p:txBody>
      </p:sp>
      <p:sp>
        <p:nvSpPr>
          <p:cNvPr id="35" name="Text 18">
            <a:extLst>
              <a:ext uri="{FF2B5EF4-FFF2-40B4-BE49-F238E27FC236}">
                <a16:creationId xmlns:a16="http://schemas.microsoft.com/office/drawing/2014/main" id="{C08BC18A-86AD-4F15-BEE9-8D71B6486A77}"/>
              </a:ext>
            </a:extLst>
          </p:cNvPr>
          <p:cNvSpPr/>
          <p:nvPr/>
        </p:nvSpPr>
        <p:spPr>
          <a:xfrm>
            <a:off x="7492873" y="2761488"/>
            <a:ext cx="15623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3C7"/>
                </a:solidFill>
              </a:rPr>
              <a:t>modelos</a:t>
            </a:r>
            <a:endParaRPr lang="en-US" sz="1000" dirty="0"/>
          </a:p>
        </p:txBody>
      </p:sp>
      <p:sp>
        <p:nvSpPr>
          <p:cNvPr id="36" name="Text 4">
            <a:extLst>
              <a:ext uri="{FF2B5EF4-FFF2-40B4-BE49-F238E27FC236}">
                <a16:creationId xmlns:a16="http://schemas.microsoft.com/office/drawing/2014/main" id="{6FD21780-B1AA-45F9-BCDB-D0A594ED6B07}"/>
              </a:ext>
            </a:extLst>
          </p:cNvPr>
          <p:cNvSpPr/>
          <p:nvPr/>
        </p:nvSpPr>
        <p:spPr>
          <a:xfrm>
            <a:off x="6083300" y="3840480"/>
            <a:ext cx="31115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5200" b="1" dirty="0">
                <a:solidFill>
                  <a:srgbClr val="00C9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Ecobici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E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El Problema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0F0FF"/>
                </a:solidFill>
              </a:rPr>
              <a:t>Predecir la duración de un viaje Ecobici antes de que comience — usando solo información disponible al retirar la bici.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2148840" cy="2286000"/>
          </a:xfrm>
          <a:prstGeom prst="roundRect">
            <a:avLst>
              <a:gd name="adj" fmla="val 5106"/>
            </a:avLst>
          </a:prstGeom>
          <a:solidFill>
            <a:srgbClr val="162348"/>
          </a:solidFill>
          <a:ln/>
          <a:effectLst>
            <a:outerShdw blurRad="177800" dist="508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417320"/>
            <a:ext cx="2148840" cy="411480"/>
          </a:xfrm>
          <a:prstGeom prst="roundRect">
            <a:avLst>
              <a:gd name="adj" fmla="val 26667"/>
            </a:avLst>
          </a:prstGeom>
          <a:solidFill>
            <a:srgbClr val="00E676">
              <a:alpha val="80000"/>
            </a:srgbClr>
          </a:solidFill>
          <a:ln w="12700">
            <a:solidFill>
              <a:srgbClr val="00E676">
                <a:alpha val="8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46304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E3C"/>
                </a:solidFill>
              </a:rPr>
              <a:t>CORTO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938528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E676"/>
                </a:solidFill>
              </a:rPr>
              <a:t>&lt; 10 min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65760" y="237744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0F0FF"/>
                </a:solidFill>
              </a:rPr>
              <a:t>Período gratuito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069848" y="2834640"/>
            <a:ext cx="731520" cy="731520"/>
          </a:xfrm>
          <a:prstGeom prst="ellipse">
            <a:avLst/>
          </a:prstGeom>
          <a:solidFill>
            <a:srgbClr val="00E676">
              <a:alpha val="70000"/>
            </a:srgbClr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9848" y="2834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26%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743200" y="1417320"/>
            <a:ext cx="2148840" cy="2286000"/>
          </a:xfrm>
          <a:prstGeom prst="roundRect">
            <a:avLst>
              <a:gd name="adj" fmla="val 5106"/>
            </a:avLst>
          </a:prstGeom>
          <a:solidFill>
            <a:srgbClr val="162348"/>
          </a:solidFill>
          <a:ln/>
          <a:effectLst>
            <a:outerShdw blurRad="177800" dist="508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0" y="1417320"/>
            <a:ext cx="2148840" cy="411480"/>
          </a:xfrm>
          <a:prstGeom prst="roundRect">
            <a:avLst>
              <a:gd name="adj" fmla="val 26667"/>
            </a:avLst>
          </a:prstGeom>
          <a:solidFill>
            <a:srgbClr val="FFB300">
              <a:alpha val="80000"/>
            </a:srgbClr>
          </a:solidFill>
          <a:ln w="12700">
            <a:solidFill>
              <a:srgbClr val="FFB300">
                <a:alpha val="8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0" y="146304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E3C"/>
                </a:solidFill>
              </a:rPr>
              <a:t>MEDIANO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743200" y="1938528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B300"/>
                </a:solidFill>
              </a:rPr>
              <a:t>10 – 30 min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743200" y="237744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0F0FF"/>
                </a:solidFill>
              </a:rPr>
              <a:t>Uso típico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47288" y="2834640"/>
            <a:ext cx="731520" cy="731520"/>
          </a:xfrm>
          <a:prstGeom prst="ellipse">
            <a:avLst/>
          </a:prstGeom>
          <a:solidFill>
            <a:srgbClr val="FFB300">
              <a:alpha val="70000"/>
            </a:srgbClr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47288" y="2834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56%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120640" y="1417320"/>
            <a:ext cx="2148840" cy="2286000"/>
          </a:xfrm>
          <a:prstGeom prst="roundRect">
            <a:avLst>
              <a:gd name="adj" fmla="val 5106"/>
            </a:avLst>
          </a:prstGeom>
          <a:solidFill>
            <a:srgbClr val="162348"/>
          </a:solidFill>
          <a:ln/>
          <a:effectLst>
            <a:outerShdw blurRad="177800" dist="508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120640" y="1417320"/>
            <a:ext cx="2148840" cy="411480"/>
          </a:xfrm>
          <a:prstGeom prst="roundRect">
            <a:avLst>
              <a:gd name="adj" fmla="val 26667"/>
            </a:avLst>
          </a:prstGeom>
          <a:solidFill>
            <a:srgbClr val="FF5252">
              <a:alpha val="80000"/>
            </a:srgbClr>
          </a:solidFill>
          <a:ln w="12700">
            <a:solidFill>
              <a:srgbClr val="FF5252">
                <a:alpha val="8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0" y="146304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E3C"/>
                </a:solidFill>
              </a:rPr>
              <a:t>LARGO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120640" y="1938528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5252"/>
                </a:solidFill>
              </a:rPr>
              <a:t>&gt; 30 min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120640" y="237744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0F0FF"/>
                </a:solidFill>
              </a:rPr>
              <a:t>Genera cargo adicional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824728" y="2834640"/>
            <a:ext cx="731520" cy="731520"/>
          </a:xfrm>
          <a:prstGeom prst="ellipse">
            <a:avLst/>
          </a:prstGeom>
          <a:solidFill>
            <a:srgbClr val="FF5252">
              <a:alpha val="70000"/>
            </a:srgbClr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24728" y="2834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18%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452360" y="1417320"/>
            <a:ext cx="1508760" cy="2286000"/>
          </a:xfrm>
          <a:prstGeom prst="roundRect">
            <a:avLst>
              <a:gd name="adj" fmla="val 7273"/>
            </a:avLst>
          </a:prstGeom>
          <a:solidFill>
            <a:srgbClr val="00BFA5">
              <a:alpha val="15000"/>
            </a:srgbClr>
          </a:solidFill>
          <a:ln/>
          <a:effectLst>
            <a:outerShdw blurRad="177800" dist="50800" dir="27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1572768"/>
            <a:ext cx="502920" cy="50292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7452360" y="214884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FA5"/>
                </a:solidFill>
              </a:rPr>
              <a:t>Métrica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0BFA5"/>
                </a:solidFill>
              </a:rPr>
              <a:t>Principal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7452360" y="2633472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F1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macro</a:t>
            </a:r>
            <a:endParaRPr lang="en-US" sz="2000" dirty="0"/>
          </a:p>
        </p:txBody>
      </p:sp>
      <p:sp>
        <p:nvSpPr>
          <p:cNvPr id="29" name="Text 26"/>
          <p:cNvSpPr/>
          <p:nvPr/>
        </p:nvSpPr>
        <p:spPr>
          <a:xfrm>
            <a:off x="7452360" y="315468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0F0FF"/>
                </a:solidFill>
              </a:rPr>
              <a:t>Penaliza ignorar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0F0FF"/>
                </a:solidFill>
              </a:rPr>
              <a:t>clase Largo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365760" y="38862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FA5"/>
                </a:solidFill>
              </a:rPr>
              <a:t>¿Por qué F1-macro?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365760" y="4206240"/>
            <a:ext cx="8503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FA5"/>
                </a:solidFill>
              </a:rPr>
              <a:t>1. </a:t>
            </a:r>
            <a:r>
              <a:rPr lang="en-US" sz="1100" dirty="0">
                <a:solidFill>
                  <a:srgbClr val="E0F0FF"/>
                </a:solidFill>
              </a:rPr>
              <a:t>Accuracy engaña con clases desbalanceadas (56% Mediano)
</a:t>
            </a:r>
            <a:r>
              <a:rPr lang="en-US" sz="1100" b="1" dirty="0">
                <a:solidFill>
                  <a:srgbClr val="00BFA5"/>
                </a:solidFill>
              </a:rPr>
              <a:t>2. </a:t>
            </a:r>
            <a:r>
              <a:rPr lang="en-US" sz="1100" dirty="0">
                <a:solidFill>
                  <a:srgbClr val="E0F0FF"/>
                </a:solidFill>
              </a:rPr>
              <a:t>Penaliza modelos que ignoran la clase Largo (18%)
</a:t>
            </a:r>
            <a:r>
              <a:rPr lang="en-US" sz="1100" b="1" dirty="0">
                <a:solidFill>
                  <a:srgbClr val="00BFA5"/>
                </a:solidFill>
              </a:rPr>
              <a:t>3. </a:t>
            </a:r>
            <a:r>
              <a:rPr lang="en-US" sz="1100" dirty="0">
                <a:solidFill>
                  <a:srgbClr val="E0F0FF"/>
                </a:solidFill>
              </a:rPr>
              <a:t>Clasificador al azar obtiene 0.33 — es el piso real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E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640080" cy="347472"/>
          </a:xfrm>
          <a:prstGeom prst="roundRect">
            <a:avLst>
              <a:gd name="adj" fmla="val 21053"/>
            </a:avLst>
          </a:prstGeom>
          <a:solidFill>
            <a:srgbClr val="8BA3C7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56032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0F0FF"/>
                </a:solidFill>
              </a:rPr>
              <a:t>01 / 05</a:t>
            </a:r>
            <a:endParaRPr lang="en-US" sz="1100" b="1" dirty="0"/>
          </a:p>
        </p:txBody>
      </p:sp>
      <p:sp>
        <p:nvSpPr>
          <p:cNvPr id="4" name="Text 2"/>
          <p:cNvSpPr/>
          <p:nvPr/>
        </p:nvSpPr>
        <p:spPr>
          <a:xfrm>
            <a:off x="1143000" y="256032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Baseline — Regresión Logística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143000" y="694944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F0FF"/>
                </a:solidFill>
              </a:rPr>
              <a:t>Modelo lineal canónico para clasificación multiclase. Maximiza la verosimilitud de los datos.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1600200" cy="914400"/>
          </a:xfrm>
          <a:prstGeom prst="roundRect">
            <a:avLst>
              <a:gd name="adj" fmla="val 12000"/>
            </a:avLst>
          </a:prstGeom>
          <a:solidFill>
            <a:srgbClr val="00BFA5"/>
          </a:solidFill>
          <a:ln/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20700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F1E3C"/>
                </a:solidFill>
              </a:rPr>
              <a:t>0.596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1700784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F5A"/>
                </a:solidFill>
              </a:rPr>
              <a:t>F1-macro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194560" y="1143000"/>
            <a:ext cx="1600200" cy="914400"/>
          </a:xfrm>
          <a:prstGeom prst="roundRect">
            <a:avLst>
              <a:gd name="adj" fmla="val 12000"/>
            </a:avLst>
          </a:prstGeom>
          <a:solidFill>
            <a:srgbClr val="162348"/>
          </a:solidFill>
          <a:ln/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194560" y="120700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BFA5"/>
                </a:solidFill>
              </a:rPr>
              <a:t>0.613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194560" y="1700784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0F0FF"/>
                </a:solidFill>
              </a:rPr>
              <a:t>Accuracy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023360" y="1143000"/>
            <a:ext cx="1600200" cy="914400"/>
          </a:xfrm>
          <a:prstGeom prst="roundRect">
            <a:avLst>
              <a:gd name="adj" fmla="val 12000"/>
            </a:avLst>
          </a:prstGeom>
          <a:solidFill>
            <a:srgbClr val="162348"/>
          </a:solidFill>
          <a:ln/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023360" y="120700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BFA5"/>
                </a:solidFill>
              </a:rPr>
              <a:t>0.643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023360" y="1700784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0F0FF"/>
                </a:solidFill>
              </a:rPr>
              <a:t>Recall-macro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852160" y="111556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FA5"/>
                </a:solidFill>
              </a:rPr>
              <a:t>Detalle por clase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852160" y="1481328"/>
            <a:ext cx="3017520" cy="329184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70448" y="148132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FA5"/>
                </a:solidFill>
              </a:rPr>
              <a:t>Clase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903720" y="1481328"/>
            <a:ext cx="475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FA5"/>
                </a:solidFill>
              </a:rPr>
              <a:t>Prec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406640" y="1481328"/>
            <a:ext cx="475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FA5"/>
                </a:solidFill>
              </a:rPr>
              <a:t>Rec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909560" y="1481328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FA5"/>
                </a:solidFill>
              </a:rPr>
              <a:t>F1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852160" y="1810512"/>
            <a:ext cx="3017520" cy="402336"/>
          </a:xfrm>
          <a:prstGeom prst="rect">
            <a:avLst/>
          </a:prstGeom>
          <a:solidFill>
            <a:srgbClr val="162348"/>
          </a:solidFill>
          <a:ln w="12700">
            <a:solidFill>
              <a:srgbClr val="1A2F5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70448" y="181051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0F0FF"/>
                </a:solidFill>
              </a:rPr>
              <a:t>Corto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903720" y="1810512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0F0FF"/>
                </a:solidFill>
              </a:rPr>
              <a:t>0.561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406640" y="1810512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0F0FF"/>
                </a:solidFill>
              </a:rPr>
              <a:t>0.814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909560" y="1810512"/>
            <a:ext cx="566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0F0FF"/>
                </a:solidFill>
              </a:rPr>
              <a:t>0.664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852160" y="2249424"/>
            <a:ext cx="3017520" cy="402336"/>
          </a:xfrm>
          <a:prstGeom prst="rect">
            <a:avLst/>
          </a:prstGeom>
          <a:solidFill>
            <a:srgbClr val="0F1E3C"/>
          </a:solidFill>
          <a:ln w="12700">
            <a:solidFill>
              <a:srgbClr val="1A2F5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70448" y="2249424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0F0FF"/>
                </a:solidFill>
              </a:rPr>
              <a:t>Mediano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903720" y="2249424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0F0FF"/>
                </a:solidFill>
              </a:rPr>
              <a:t>0.817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406640" y="2249424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0F0FF"/>
                </a:solidFill>
              </a:rPr>
              <a:t>0.527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909560" y="2249424"/>
            <a:ext cx="566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0F0FF"/>
                </a:solidFill>
              </a:rPr>
              <a:t>0.640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852160" y="2688336"/>
            <a:ext cx="3017520" cy="402336"/>
          </a:xfrm>
          <a:prstGeom prst="rect">
            <a:avLst/>
          </a:prstGeom>
          <a:solidFill>
            <a:srgbClr val="162348"/>
          </a:solidFill>
          <a:ln w="12700">
            <a:solidFill>
              <a:srgbClr val="1A2F5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70448" y="2688336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5252"/>
                </a:solidFill>
              </a:rPr>
              <a:t>Largo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903720" y="2688336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5252"/>
                </a:solidFill>
              </a:rPr>
              <a:t>0.410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406640" y="2688336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5252"/>
                </a:solidFill>
              </a:rPr>
              <a:t>0.589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7909560" y="2688336"/>
            <a:ext cx="566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5252"/>
                </a:solidFill>
              </a:rPr>
              <a:t>0.484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65760" y="2267712"/>
            <a:ext cx="5340096" cy="2697480"/>
          </a:xfrm>
          <a:prstGeom prst="roundRect">
            <a:avLst>
              <a:gd name="adj" fmla="val 4068"/>
            </a:avLst>
          </a:prstGeom>
          <a:solidFill>
            <a:srgbClr val="162348"/>
          </a:solidFill>
          <a:ln/>
          <a:effectLst>
            <a:outerShdw blurRad="177800" dist="508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594360" y="239572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FA5"/>
                </a:solidFill>
              </a:rPr>
              <a:t>Conclusiones del Baseline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94360" y="276148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✅  </a:t>
            </a:r>
            <a:r>
              <a:rPr lang="en-US" sz="1100" dirty="0">
                <a:solidFill>
                  <a:srgbClr val="E0F0FF"/>
                </a:solidFill>
              </a:rPr>
              <a:t>Piso sólido: supera ampliamente el azar (0.33) — captura señal real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94360" y="3236976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⚠️  </a:t>
            </a:r>
            <a:r>
              <a:rPr lang="en-US" sz="1100" dirty="0">
                <a:solidFill>
                  <a:srgbClr val="E0F0FF"/>
                </a:solidFill>
              </a:rPr>
              <a:t>Limitación estructural: fronteras lineales no alcanzan para separar las 3 clases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94360" y="3712464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🔴  </a:t>
            </a:r>
            <a:r>
              <a:rPr lang="en-US" sz="1100" dirty="0">
                <a:solidFill>
                  <a:srgbClr val="E0F0FF"/>
                </a:solidFill>
              </a:rPr>
              <a:t>Clase Largo es la más difícil (F1: 0.484) — peor recall relativo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94360" y="418795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⚙️  </a:t>
            </a:r>
            <a:r>
              <a:rPr lang="en-US" sz="1100" dirty="0">
                <a:solidFill>
                  <a:srgbClr val="E0F0FF"/>
                </a:solidFill>
              </a:rPr>
              <a:t>Solver: SAGA  |  class_weight: balanced  |  Train: 1.5M filas (muestra estratificada)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E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640080" cy="347472"/>
          </a:xfrm>
          <a:prstGeom prst="roundRect">
            <a:avLst>
              <a:gd name="adj" fmla="val 21053"/>
            </a:avLst>
          </a:prstGeom>
          <a:solidFill>
            <a:srgbClr val="8BA3C7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56032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0F0FF"/>
                </a:solidFill>
              </a:rPr>
              <a:t>02 / 05</a:t>
            </a:r>
            <a:endParaRPr lang="en-US" sz="1200" b="1" dirty="0"/>
          </a:p>
        </p:txBody>
      </p:sp>
      <p:sp>
        <p:nvSpPr>
          <p:cNvPr id="4" name="Text 2"/>
          <p:cNvSpPr/>
          <p:nvPr/>
        </p:nvSpPr>
        <p:spPr>
          <a:xfrm>
            <a:off x="1143000" y="256032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KNN — K-Nearest Neighbors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143000" y="694944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F0FF"/>
                </a:solidFill>
              </a:rPr>
              <a:t>Algoritmo lazy no paramétrico. Clasifica por votación de los k vecinos más cercanos.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1600200" cy="914400"/>
          </a:xfrm>
          <a:prstGeom prst="roundRect">
            <a:avLst>
              <a:gd name="adj" fmla="val 12000"/>
            </a:avLst>
          </a:prstGeom>
          <a:solidFill>
            <a:srgbClr val="162348"/>
          </a:solidFill>
          <a:ln/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179576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BFA5"/>
                </a:solidFill>
              </a:rPr>
              <a:t>0.592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167335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0F0FF"/>
                </a:solidFill>
              </a:rPr>
              <a:t>F1-macro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194560" y="1115568"/>
            <a:ext cx="1600200" cy="914400"/>
          </a:xfrm>
          <a:prstGeom prst="roundRect">
            <a:avLst>
              <a:gd name="adj" fmla="val 12000"/>
            </a:avLst>
          </a:prstGeom>
          <a:solidFill>
            <a:srgbClr val="162348"/>
          </a:solidFill>
          <a:ln/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194560" y="1179576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BFA5"/>
                </a:solidFill>
              </a:rPr>
              <a:t>0.652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194560" y="167335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0F0FF"/>
                </a:solidFill>
              </a:rPr>
              <a:t>Accuracy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023360" y="1115568"/>
            <a:ext cx="1600200" cy="914400"/>
          </a:xfrm>
          <a:prstGeom prst="roundRect">
            <a:avLst>
              <a:gd name="adj" fmla="val 12000"/>
            </a:avLst>
          </a:prstGeom>
          <a:solidFill>
            <a:srgbClr val="FF5252"/>
          </a:solidFill>
          <a:ln/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023360" y="1179576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0.351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023360" y="167335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0F0FF"/>
                </a:solidFill>
              </a:rPr>
              <a:t>Recall Largo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852160" y="1115568"/>
            <a:ext cx="3017520" cy="914400"/>
          </a:xfrm>
          <a:prstGeom prst="roundRect">
            <a:avLst>
              <a:gd name="adj" fmla="val 10000"/>
            </a:avLst>
          </a:prstGeom>
          <a:solidFill>
            <a:srgbClr val="162348"/>
          </a:solidFill>
          <a:ln/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989320" y="11704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FA5"/>
                </a:solidFill>
              </a:rPr>
              <a:t>Hiperparámetros Optuna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89320" y="144475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0FF"/>
                </a:solidFill>
              </a:rPr>
              <a:t>n_neighbors: 10  |  weights: uniform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F0FF"/>
                </a:solidFill>
              </a:rPr>
              <a:t>p (Minkowski): 1.58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5760" y="22128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5252"/>
                </a:solidFill>
              </a:rPr>
              <a:t>Limitaciones Críticas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2633472"/>
            <a:ext cx="2697480" cy="2304288"/>
          </a:xfrm>
          <a:prstGeom prst="roundRect">
            <a:avLst>
              <a:gd name="adj" fmla="val 4762"/>
            </a:avLst>
          </a:prstGeom>
          <a:solidFill>
            <a:srgbClr val="162348"/>
          </a:solidFill>
          <a:ln/>
          <a:effectLst>
            <a:outerShdw blurRad="177800" dist="508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724912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🌐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457200" y="32918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5252"/>
                </a:solidFill>
              </a:rPr>
              <a:t>Maldición de la dimensionalidad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3703320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0F0FF"/>
                </a:solidFill>
              </a:rPr>
              <a:t>Con 19 features las distancias se homogenizan — el modelo casi no distingue las clases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46120" y="2633472"/>
            <a:ext cx="2697480" cy="2304288"/>
          </a:xfrm>
          <a:prstGeom prst="roundRect">
            <a:avLst>
              <a:gd name="adj" fmla="val 4762"/>
            </a:avLst>
          </a:prstGeom>
          <a:solidFill>
            <a:srgbClr val="162348"/>
          </a:solidFill>
          <a:ln/>
          <a:effectLst>
            <a:outerShdw blurRad="177800" dist="508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246120" y="2724912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📉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3337560" y="32918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5252"/>
                </a:solidFill>
              </a:rPr>
              <a:t>Recall de Largo: 0.351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337560" y="3703320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0F0FF"/>
                </a:solidFill>
              </a:rPr>
              <a:t>Apenas por encima del azar (0.33) — prácticamente no aprende la clase minoritaria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126480" y="2633472"/>
            <a:ext cx="2697480" cy="2304288"/>
          </a:xfrm>
          <a:prstGeom prst="roundRect">
            <a:avLst>
              <a:gd name="adj" fmla="val 4762"/>
            </a:avLst>
          </a:prstGeom>
          <a:solidFill>
            <a:srgbClr val="162348"/>
          </a:solidFill>
          <a:ln/>
          <a:effectLst>
            <a:outerShdw blurRad="177800" dist="508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126480" y="2724912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🐢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6217920" y="32918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5252"/>
                </a:solidFill>
              </a:rPr>
              <a:t>Inviable en producción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217920" y="3703320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0F0FF"/>
                </a:solidFill>
              </a:rPr>
              <a:t>22.9 seg para 50k muestras → horas para el test completo. Costo O(n) en inferencia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E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640080" cy="347472"/>
          </a:xfrm>
          <a:prstGeom prst="roundRect">
            <a:avLst>
              <a:gd name="adj" fmla="val 21053"/>
            </a:avLst>
          </a:prstGeom>
          <a:solidFill>
            <a:srgbClr val="8BA3C7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56032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0F0FF"/>
                </a:solidFill>
              </a:rPr>
              <a:t>03 / 05</a:t>
            </a:r>
            <a:endParaRPr lang="en-US" sz="1200" b="1" dirty="0"/>
          </a:p>
        </p:txBody>
      </p:sp>
      <p:sp>
        <p:nvSpPr>
          <p:cNvPr id="4" name="Text 2"/>
          <p:cNvSpPr/>
          <p:nvPr/>
        </p:nvSpPr>
        <p:spPr>
          <a:xfrm>
            <a:off x="1143000" y="256032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LinearSVC — SVM Lineal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143000" y="694944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F0FF"/>
                </a:solidFill>
              </a:rPr>
              <a:t>Maximiza el margen entre clases. Implementación O(n) — viable a gran escala.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1600200" cy="914400"/>
          </a:xfrm>
          <a:prstGeom prst="roundRect">
            <a:avLst>
              <a:gd name="adj" fmla="val 12000"/>
            </a:avLst>
          </a:prstGeom>
          <a:solidFill>
            <a:srgbClr val="162348"/>
          </a:solidFill>
          <a:ln/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179576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BFA5"/>
                </a:solidFill>
              </a:rPr>
              <a:t>0.601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167335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0F0FF"/>
                </a:solidFill>
              </a:rPr>
              <a:t>F1-macro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194560" y="1115568"/>
            <a:ext cx="1600200" cy="914400"/>
          </a:xfrm>
          <a:prstGeom prst="roundRect">
            <a:avLst>
              <a:gd name="adj" fmla="val 12000"/>
            </a:avLst>
          </a:prstGeom>
          <a:solidFill>
            <a:srgbClr val="162348"/>
          </a:solidFill>
          <a:ln/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194560" y="1179576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BFA5"/>
                </a:solidFill>
              </a:rPr>
              <a:t>0.660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194560" y="167335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0F0FF"/>
                </a:solidFill>
              </a:rPr>
              <a:t>Accuracy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023360" y="1115568"/>
            <a:ext cx="1600200" cy="914400"/>
          </a:xfrm>
          <a:prstGeom prst="roundRect">
            <a:avLst>
              <a:gd name="adj" fmla="val 12000"/>
            </a:avLst>
          </a:prstGeom>
          <a:solidFill>
            <a:srgbClr val="00897B"/>
          </a:solidFill>
          <a:ln/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023360" y="1179576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0.1s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023360" y="167335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0F0FF"/>
                </a:solidFill>
              </a:rPr>
              <a:t>Tiempo pred.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852160" y="1115568"/>
            <a:ext cx="3017520" cy="1737360"/>
          </a:xfrm>
          <a:prstGeom prst="roundRect">
            <a:avLst>
              <a:gd name="adj" fmla="val 5263"/>
            </a:avLst>
          </a:prstGeom>
          <a:solidFill>
            <a:srgbClr val="162348"/>
          </a:solidFill>
          <a:ln/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989320" y="1179576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300"/>
                </a:solidFill>
              </a:rPr>
              <a:t>¿Por qué no SVC con kernel?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89320" y="150876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5252"/>
                </a:solidFill>
              </a:rPr>
              <a:t>✗  </a:t>
            </a:r>
            <a:r>
              <a:rPr lang="en-US" sz="1000" dirty="0">
                <a:solidFill>
                  <a:srgbClr val="E0F0FF"/>
                </a:solidFill>
              </a:rPr>
              <a:t>SVC clásico: O(n²) a O(n³)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989320" y="183794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5252"/>
                </a:solidFill>
              </a:rPr>
              <a:t>✗  </a:t>
            </a:r>
            <a:r>
              <a:rPr lang="en-US" sz="1000" dirty="0">
                <a:solidFill>
                  <a:srgbClr val="E0F0FF"/>
                </a:solidFill>
              </a:rPr>
              <a:t>500k filas → matriz inmanejable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989320" y="216712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E676"/>
                </a:solidFill>
              </a:rPr>
              <a:t>✓  </a:t>
            </a:r>
            <a:r>
              <a:rPr lang="en-US" sz="1000" dirty="0">
                <a:solidFill>
                  <a:srgbClr val="E0F0FF"/>
                </a:solidFill>
              </a:rPr>
              <a:t>LinearSVC: misma frontera lineal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989320" y="249631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E676"/>
                </a:solidFill>
              </a:rPr>
              <a:t>✓  </a:t>
            </a:r>
            <a:r>
              <a:rPr lang="en-US" sz="1000" dirty="0">
                <a:solidFill>
                  <a:srgbClr val="E0F0FF"/>
                </a:solidFill>
              </a:rPr>
              <a:t>Costo O(n) — escala perfectamente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65760" y="217627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FA5"/>
                </a:solidFill>
              </a:rPr>
              <a:t>Baseline vs LinearSVC</a:t>
            </a:r>
            <a:endParaRPr lang="en-US" sz="13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578608"/>
          <a:ext cx="5303520" cy="237744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BFA5"/>
                          </a:solidFill>
                        </a:rPr>
                        <a:t>Aspecto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0F0FF"/>
                          </a:solidFill>
                        </a:rPr>
                        <a:t>Log. Reg.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BFA5"/>
                          </a:solidFill>
                        </a:rPr>
                        <a:t>LinearSVC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0F0FF"/>
                          </a:solidFill>
                        </a:rPr>
                        <a:t>Criterio opt.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0F0FF"/>
                          </a:solidFill>
                        </a:rPr>
                        <a:t>Verosimilitud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0F0FF"/>
                          </a:solidFill>
                        </a:rPr>
                        <a:t>Margen máximo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0F0FF"/>
                          </a:solidFill>
                        </a:rPr>
                        <a:t>F1-macro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0F0FF"/>
                          </a:solidFill>
                        </a:rPr>
                        <a:t>0.596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BFA5"/>
                          </a:solidFill>
                        </a:rPr>
                        <a:t>0.601  ✓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0F0FF"/>
                          </a:solidFill>
                        </a:rPr>
                        <a:t>Velocidad pred.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0F0FF"/>
                          </a:solidFill>
                        </a:rPr>
                        <a:t>14.2 seg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E676"/>
                          </a:solidFill>
                        </a:rPr>
                        <a:t>0.1 seg  ★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0F0FF"/>
                          </a:solidFill>
                        </a:rPr>
                        <a:t>Escalabilidad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0F0FF"/>
                          </a:solidFill>
                        </a:rPr>
                        <a:t>Alta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0F0FF"/>
                          </a:solidFill>
                        </a:rPr>
                        <a:t>Alta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3" name="Shape 20"/>
          <p:cNvSpPr/>
          <p:nvPr/>
        </p:nvSpPr>
        <p:spPr>
          <a:xfrm>
            <a:off x="5852160" y="2971800"/>
            <a:ext cx="3017520" cy="1984248"/>
          </a:xfrm>
          <a:prstGeom prst="roundRect">
            <a:avLst>
              <a:gd name="adj" fmla="val 4608"/>
            </a:avLst>
          </a:prstGeom>
          <a:solidFill>
            <a:srgbClr val="162348"/>
          </a:solidFill>
          <a:ln/>
          <a:effectLst>
            <a:outerShdw blurRad="177800" dist="508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5989320" y="30632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B300"/>
                </a:solidFill>
              </a:rPr>
              <a:t>Limitación compartida con baseline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5989320" y="3429000"/>
            <a:ext cx="2834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0FF"/>
                </a:solidFill>
              </a:rPr>
              <a:t>Al ser modelo lineal, no captura relaciones no lineales entre features.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F0FF"/>
                </a:solidFill>
              </a:rPr>
              <a:t>El encoding cíclico (hora/mes) y la distancia Haversine tienen patrones que escapan a la frontera lineal.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E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7034" y="18288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06424" y="237744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Random Forest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6080760" y="274320"/>
            <a:ext cx="2331720" cy="347472"/>
          </a:xfrm>
          <a:prstGeom prst="roundRect">
            <a:avLst>
              <a:gd name="adj" fmla="val 31579"/>
            </a:avLst>
          </a:prstGeom>
          <a:solidFill>
            <a:srgbClr val="00BFA5">
              <a:alpha val="8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6080760" y="27432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E3C"/>
                </a:solidFill>
              </a:rPr>
              <a:t>★  MODELO RECOMENDADO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987552" y="694944"/>
            <a:ext cx="7040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F0FF"/>
                </a:solidFill>
              </a:rPr>
              <a:t>Bagging: 241 árboles paralelos sobre muestras bootstrap. Captura relaciones no lineales.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65760" y="1115568"/>
            <a:ext cx="1536192" cy="914400"/>
          </a:xfrm>
          <a:prstGeom prst="roundRect">
            <a:avLst>
              <a:gd name="adj" fmla="val 12000"/>
            </a:avLst>
          </a:prstGeom>
          <a:solidFill>
            <a:srgbClr val="00BFA5"/>
          </a:solidFill>
          <a:ln/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365760" y="1170432"/>
            <a:ext cx="1536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F1E3C"/>
                </a:solidFill>
              </a:rPr>
              <a:t>0.703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365760" y="1664208"/>
            <a:ext cx="1536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F5A"/>
                </a:solidFill>
              </a:rPr>
              <a:t>F1-macro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084832" y="1115568"/>
            <a:ext cx="1536192" cy="914400"/>
          </a:xfrm>
          <a:prstGeom prst="roundRect">
            <a:avLst>
              <a:gd name="adj" fmla="val 12000"/>
            </a:avLst>
          </a:prstGeom>
          <a:solidFill>
            <a:srgbClr val="162348"/>
          </a:solidFill>
          <a:ln/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2084832" y="1170432"/>
            <a:ext cx="1536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BFA5"/>
                </a:solidFill>
              </a:rPr>
              <a:t>0.734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2084832" y="1664208"/>
            <a:ext cx="1536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0F0FF"/>
                </a:solidFill>
              </a:rPr>
              <a:t>Accuracy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803904" y="1115568"/>
            <a:ext cx="1536192" cy="914400"/>
          </a:xfrm>
          <a:prstGeom prst="roundRect">
            <a:avLst>
              <a:gd name="adj" fmla="val 12000"/>
            </a:avLst>
          </a:prstGeom>
          <a:solidFill>
            <a:srgbClr val="162348"/>
          </a:solidFill>
          <a:ln/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3803904" y="1170432"/>
            <a:ext cx="1536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BFA5"/>
                </a:solidFill>
              </a:rPr>
              <a:t>0.722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3803904" y="1664208"/>
            <a:ext cx="1536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0F0FF"/>
                </a:solidFill>
              </a:rPr>
              <a:t>Recall-macro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522976" y="1115568"/>
            <a:ext cx="1536192" cy="914400"/>
          </a:xfrm>
          <a:prstGeom prst="roundRect">
            <a:avLst>
              <a:gd name="adj" fmla="val 12000"/>
            </a:avLst>
          </a:prstGeom>
          <a:solidFill>
            <a:srgbClr val="162348"/>
          </a:solidFill>
          <a:ln/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5522976" y="1170432"/>
            <a:ext cx="1536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BFA5"/>
                </a:solidFill>
              </a:rPr>
              <a:t>0.607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5522976" y="1664208"/>
            <a:ext cx="1536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0F0FF"/>
                </a:solidFill>
              </a:rPr>
              <a:t>Recall Largo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7242048" y="1115568"/>
            <a:ext cx="1536192" cy="914400"/>
          </a:xfrm>
          <a:prstGeom prst="roundRect">
            <a:avLst>
              <a:gd name="adj" fmla="val 12000"/>
            </a:avLst>
          </a:prstGeom>
          <a:solidFill>
            <a:srgbClr val="162348"/>
          </a:solidFill>
          <a:ln/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7242048" y="1170432"/>
            <a:ext cx="1536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BFA5"/>
                </a:solidFill>
              </a:rPr>
              <a:t>8.8s</a:t>
            </a:r>
            <a:endParaRPr lang="en-US" sz="2600" dirty="0"/>
          </a:p>
        </p:txBody>
      </p:sp>
      <p:sp>
        <p:nvSpPr>
          <p:cNvPr id="21" name="Text 18"/>
          <p:cNvSpPr/>
          <p:nvPr/>
        </p:nvSpPr>
        <p:spPr>
          <a:xfrm>
            <a:off x="7242048" y="1664208"/>
            <a:ext cx="1536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0F0FF"/>
                </a:solidFill>
              </a:rPr>
              <a:t>Tiempo pred.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365760" y="2212848"/>
            <a:ext cx="4114800" cy="2697480"/>
          </a:xfrm>
          <a:prstGeom prst="roundRect">
            <a:avLst>
              <a:gd name="adj" fmla="val 4068"/>
            </a:avLst>
          </a:prstGeom>
          <a:solidFill>
            <a:srgbClr val="162348"/>
          </a:solidFill>
          <a:ln/>
          <a:effectLst>
            <a:outerShdw blurRad="177800" dist="508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548640" y="230428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FA5"/>
                </a:solidFill>
              </a:rPr>
              <a:t>Hiperparámetros — Optuna (10 trials)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548640" y="2706624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BA3C7"/>
                </a:solidFill>
              </a:rPr>
              <a:t>n_estimators:  </a:t>
            </a:r>
            <a:r>
              <a:rPr lang="en-US" sz="1050" dirty="0">
                <a:solidFill>
                  <a:srgbClr val="E0F0FF"/>
                </a:solidFill>
              </a:rPr>
              <a:t>241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548640" y="3054096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BA3C7"/>
                </a:solidFill>
              </a:rPr>
              <a:t>max_depth:  </a:t>
            </a:r>
            <a:r>
              <a:rPr lang="en-US" sz="1050" dirty="0">
                <a:solidFill>
                  <a:srgbClr val="E0F0FF"/>
                </a:solidFill>
              </a:rPr>
              <a:t>27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548640" y="3401568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BA3C7"/>
                </a:solidFill>
              </a:rPr>
              <a:t>max_features:  </a:t>
            </a:r>
            <a:r>
              <a:rPr lang="en-US" sz="1050" dirty="0">
                <a:solidFill>
                  <a:srgbClr val="E0F0FF"/>
                </a:solidFill>
              </a:rPr>
              <a:t>0.591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548640" y="3749040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BA3C7"/>
                </a:solidFill>
              </a:rPr>
              <a:t>min_samples_split:  </a:t>
            </a:r>
            <a:r>
              <a:rPr lang="en-US" sz="1050" dirty="0">
                <a:solidFill>
                  <a:srgbClr val="E0F0FF"/>
                </a:solidFill>
              </a:rPr>
              <a:t>8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548640" y="4096512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BA3C7"/>
                </a:solidFill>
              </a:rPr>
              <a:t>min_samples_leaf:  </a:t>
            </a:r>
            <a:r>
              <a:rPr lang="en-US" sz="1050" dirty="0">
                <a:solidFill>
                  <a:srgbClr val="E0F0FF"/>
                </a:solidFill>
              </a:rPr>
              <a:t>5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548640" y="4443984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BA3C7"/>
                </a:solidFill>
              </a:rPr>
              <a:t>Train:  </a:t>
            </a:r>
            <a:r>
              <a:rPr lang="en-US" sz="1050" dirty="0">
                <a:solidFill>
                  <a:srgbClr val="E0F0FF"/>
                </a:solidFill>
              </a:rPr>
              <a:t>1M filas  |  class_weight: balanced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4754880" y="2212848"/>
            <a:ext cx="4114800" cy="2697480"/>
          </a:xfrm>
          <a:prstGeom prst="roundRect">
            <a:avLst>
              <a:gd name="adj" fmla="val 4068"/>
            </a:avLst>
          </a:prstGeom>
          <a:solidFill>
            <a:srgbClr val="00BFA5">
              <a:alpha val="12000"/>
            </a:srgbClr>
          </a:solidFill>
          <a:ln/>
          <a:effectLst>
            <a:outerShdw blurRad="177800" dist="508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4937760" y="230428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FA5"/>
                </a:solidFill>
              </a:rPr>
              <a:t>Por qué es el modelo recomendado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4937760" y="274320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FA5"/>
                </a:solidFill>
              </a:rPr>
              <a:t>✓  </a:t>
            </a:r>
            <a:r>
              <a:rPr lang="en-US" sz="1050" dirty="0">
                <a:solidFill>
                  <a:srgbClr val="E0F0FF"/>
                </a:solidFill>
              </a:rPr>
              <a:t>+10.7 pts de F1-macro sobre el baseline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4937760" y="3273552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FA5"/>
                </a:solidFill>
              </a:rPr>
              <a:t>✓  </a:t>
            </a:r>
            <a:r>
              <a:rPr lang="en-US" sz="1050" dirty="0">
                <a:solidFill>
                  <a:srgbClr val="E0F0FF"/>
                </a:solidFill>
              </a:rPr>
              <a:t>Mejor Recall-macro del proyecto: 0.722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4937760" y="3803904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FA5"/>
                </a:solidFill>
              </a:rPr>
              <a:t>✓  </a:t>
            </a:r>
            <a:r>
              <a:rPr lang="en-US" sz="1050" dirty="0">
                <a:solidFill>
                  <a:srgbClr val="E0F0FF"/>
                </a:solidFill>
              </a:rPr>
              <a:t>Mejor Recall de clase Largo: 0.607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4937760" y="4334256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FA5"/>
                </a:solidFill>
              </a:rPr>
              <a:t>✓  </a:t>
            </a:r>
            <a:r>
              <a:rPr lang="en-US" sz="1050" dirty="0">
                <a:solidFill>
                  <a:srgbClr val="E0F0FF"/>
                </a:solidFill>
              </a:rPr>
              <a:t>Detectar viajes Largos = objetivo operativo clave (cobro adicional)</a:t>
            </a:r>
            <a:endParaRPr lang="en-US" sz="1050" dirty="0"/>
          </a:p>
        </p:txBody>
      </p:sp>
      <p:sp>
        <p:nvSpPr>
          <p:cNvPr id="37" name="Shape 0">
            <a:extLst>
              <a:ext uri="{FF2B5EF4-FFF2-40B4-BE49-F238E27FC236}">
                <a16:creationId xmlns:a16="http://schemas.microsoft.com/office/drawing/2014/main" id="{A63199E8-2423-4B25-81B8-7D1DDA1C0773}"/>
              </a:ext>
            </a:extLst>
          </p:cNvPr>
          <p:cNvSpPr/>
          <p:nvPr/>
        </p:nvSpPr>
        <p:spPr>
          <a:xfrm>
            <a:off x="365760" y="256032"/>
            <a:ext cx="640080" cy="347472"/>
          </a:xfrm>
          <a:prstGeom prst="roundRect">
            <a:avLst>
              <a:gd name="adj" fmla="val 21053"/>
            </a:avLst>
          </a:prstGeom>
          <a:solidFill>
            <a:srgbClr val="8BA3C7">
              <a:alpha val="40000"/>
            </a:srgbClr>
          </a:solidFill>
          <a:ln/>
        </p:spPr>
      </p:sp>
      <p:sp>
        <p:nvSpPr>
          <p:cNvPr id="38" name="Text 1">
            <a:extLst>
              <a:ext uri="{FF2B5EF4-FFF2-40B4-BE49-F238E27FC236}">
                <a16:creationId xmlns:a16="http://schemas.microsoft.com/office/drawing/2014/main" id="{A1CCEA7C-E145-42AF-BA76-0C4B367A1C34}"/>
              </a:ext>
            </a:extLst>
          </p:cNvPr>
          <p:cNvSpPr/>
          <p:nvPr/>
        </p:nvSpPr>
        <p:spPr>
          <a:xfrm>
            <a:off x="365760" y="256032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0F0FF"/>
                </a:solidFill>
              </a:rPr>
              <a:t>04 / 05</a:t>
            </a:r>
            <a:endParaRPr lang="en-US" sz="1200" b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E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640080" cy="347472"/>
          </a:xfrm>
          <a:prstGeom prst="roundRect">
            <a:avLst>
              <a:gd name="adj" fmla="val 21053"/>
            </a:avLst>
          </a:prstGeom>
          <a:solidFill>
            <a:srgbClr val="8BA3C7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56032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0F0FF"/>
                </a:solidFill>
              </a:rPr>
              <a:t>05 / 05</a:t>
            </a:r>
            <a:endParaRPr lang="en-US" sz="1200" b="1" dirty="0"/>
          </a:p>
        </p:txBody>
      </p:sp>
      <p:sp>
        <p:nvSpPr>
          <p:cNvPr id="4" name="Text 2"/>
          <p:cNvSpPr/>
          <p:nvPr/>
        </p:nvSpPr>
        <p:spPr>
          <a:xfrm>
            <a:off x="1143000" y="256032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XGBoost — Extreme Gradient Boosting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43000" y="694944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F0FF"/>
                </a:solidFill>
              </a:rPr>
              <a:t>Boosting secuencial: cada árbol corrige los errores del anterior. Regularización L1 y L2 nativa.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1536192" cy="914400"/>
          </a:xfrm>
          <a:prstGeom prst="roundRect">
            <a:avLst>
              <a:gd name="adj" fmla="val 12000"/>
            </a:avLst>
          </a:prstGeom>
          <a:solidFill>
            <a:srgbClr val="00BFA5"/>
          </a:solidFill>
          <a:ln/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170432"/>
            <a:ext cx="1536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0.704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65760" y="1664208"/>
            <a:ext cx="1536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0F0FF"/>
                </a:solidFill>
              </a:rPr>
              <a:t>F1-macro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084832" y="1115568"/>
            <a:ext cx="1536192" cy="914400"/>
          </a:xfrm>
          <a:prstGeom prst="roundRect">
            <a:avLst>
              <a:gd name="adj" fmla="val 12000"/>
            </a:avLst>
          </a:prstGeom>
          <a:solidFill>
            <a:srgbClr val="162348"/>
          </a:solidFill>
          <a:ln/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084832" y="1170432"/>
            <a:ext cx="1536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BFA5"/>
                </a:solidFill>
              </a:rPr>
              <a:t>0.751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084832" y="1664208"/>
            <a:ext cx="1536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0F0FF"/>
                </a:solidFill>
              </a:rPr>
              <a:t>Accuracy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803904" y="1115568"/>
            <a:ext cx="1536192" cy="914400"/>
          </a:xfrm>
          <a:prstGeom prst="roundRect">
            <a:avLst>
              <a:gd name="adj" fmla="val 12000"/>
            </a:avLst>
          </a:prstGeom>
          <a:solidFill>
            <a:srgbClr val="162348"/>
          </a:solidFill>
          <a:ln/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803904" y="1170432"/>
            <a:ext cx="1536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BFA5"/>
                </a:solidFill>
              </a:rPr>
              <a:t>0.693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803904" y="1664208"/>
            <a:ext cx="1536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0F0FF"/>
                </a:solidFill>
              </a:rPr>
              <a:t>Recall-macro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522976" y="1115568"/>
            <a:ext cx="1536192" cy="914400"/>
          </a:xfrm>
          <a:prstGeom prst="roundRect">
            <a:avLst>
              <a:gd name="adj" fmla="val 12000"/>
            </a:avLst>
          </a:prstGeom>
          <a:solidFill>
            <a:srgbClr val="FF5252"/>
          </a:solidFill>
          <a:ln/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522976" y="1170432"/>
            <a:ext cx="1536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0.478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5522976" y="1664208"/>
            <a:ext cx="1536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0F0FF"/>
                </a:solidFill>
              </a:rPr>
              <a:t>Recall Largo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242048" y="1115568"/>
            <a:ext cx="1536192" cy="914400"/>
          </a:xfrm>
          <a:prstGeom prst="roundRect">
            <a:avLst>
              <a:gd name="adj" fmla="val 12000"/>
            </a:avLst>
          </a:prstGeom>
          <a:solidFill>
            <a:srgbClr val="162348"/>
          </a:solidFill>
          <a:ln/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242048" y="1170432"/>
            <a:ext cx="1536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BFA5"/>
                </a:solidFill>
              </a:rPr>
              <a:t>2.3s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7242048" y="1664208"/>
            <a:ext cx="1536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0F0FF"/>
                </a:solidFill>
              </a:rPr>
              <a:t>Tiempo pred.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" y="2212848"/>
            <a:ext cx="4114800" cy="2697480"/>
          </a:xfrm>
          <a:prstGeom prst="roundRect">
            <a:avLst>
              <a:gd name="adj" fmla="val 4068"/>
            </a:avLst>
          </a:prstGeom>
          <a:solidFill>
            <a:srgbClr val="162348"/>
          </a:solidFill>
          <a:ln/>
          <a:effectLst>
            <a:outerShdw blurRad="177800" dist="508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48640" y="230428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FA5"/>
                </a:solidFill>
              </a:rPr>
              <a:t>Hiperparámetros — Optuna (30 trials)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2706624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BA3C7"/>
                </a:solidFill>
              </a:rPr>
              <a:t>n_estimators:  </a:t>
            </a:r>
            <a:r>
              <a:rPr lang="en-US" sz="1050" dirty="0">
                <a:solidFill>
                  <a:srgbClr val="E0F0FF"/>
                </a:solidFill>
              </a:rPr>
              <a:t>202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48640" y="3054096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BA3C7"/>
                </a:solidFill>
              </a:rPr>
              <a:t>max_depth:  </a:t>
            </a:r>
            <a:r>
              <a:rPr lang="en-US" sz="1050" dirty="0">
                <a:solidFill>
                  <a:srgbClr val="E0F0FF"/>
                </a:solidFill>
              </a:rPr>
              <a:t>11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48640" y="3401568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BA3C7"/>
                </a:solidFill>
              </a:rPr>
              <a:t>learning_rate:  </a:t>
            </a:r>
            <a:r>
              <a:rPr lang="en-US" sz="1050" dirty="0">
                <a:solidFill>
                  <a:srgbClr val="E0F0FF"/>
                </a:solidFill>
              </a:rPr>
              <a:t>0.187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48640" y="3749040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BA3C7"/>
                </a:solidFill>
              </a:rPr>
              <a:t>subsample:  </a:t>
            </a:r>
            <a:r>
              <a:rPr lang="en-US" sz="1050" dirty="0">
                <a:solidFill>
                  <a:srgbClr val="E0F0FF"/>
                </a:solidFill>
              </a:rPr>
              <a:t>0.912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48640" y="4096512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BA3C7"/>
                </a:solidFill>
              </a:rPr>
              <a:t>colsample_bytree:  </a:t>
            </a:r>
            <a:r>
              <a:rPr lang="en-US" sz="1050" dirty="0">
                <a:solidFill>
                  <a:srgbClr val="E0F0FF"/>
                </a:solidFill>
              </a:rPr>
              <a:t>0.801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48640" y="4443984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BA3C7"/>
                </a:solidFill>
              </a:rPr>
              <a:t>gamma:  </a:t>
            </a:r>
            <a:r>
              <a:rPr lang="en-US" sz="1050" dirty="0">
                <a:solidFill>
                  <a:srgbClr val="E0F0FF"/>
                </a:solidFill>
              </a:rPr>
              <a:t>0.719  |  Train: 1.5M filas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754880" y="2212848"/>
            <a:ext cx="4114800" cy="2697480"/>
          </a:xfrm>
          <a:prstGeom prst="roundRect">
            <a:avLst>
              <a:gd name="adj" fmla="val 4068"/>
            </a:avLst>
          </a:prstGeom>
          <a:solidFill>
            <a:srgbClr val="162348"/>
          </a:solidFill>
          <a:ln/>
          <a:effectLst>
            <a:outerShdw blurRad="177800" dist="508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937760" y="230428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B300"/>
                </a:solidFill>
              </a:rPr>
              <a:t>XGBoost vs Random Forest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937760" y="274320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E676"/>
                </a:solidFill>
              </a:rPr>
              <a:t>✓  </a:t>
            </a:r>
            <a:r>
              <a:rPr lang="en-US" sz="1050" dirty="0">
                <a:solidFill>
                  <a:srgbClr val="E0F0FF"/>
                </a:solidFill>
              </a:rPr>
              <a:t>Mejor Accuracy: 0.751 vs 0.734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937760" y="3273552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E676"/>
                </a:solidFill>
              </a:rPr>
              <a:t>✓  </a:t>
            </a:r>
            <a:r>
              <a:rPr lang="en-US" sz="1050" dirty="0">
                <a:solidFill>
                  <a:srgbClr val="E0F0FF"/>
                </a:solidFill>
              </a:rPr>
              <a:t>Mejor Precision-macro: 0.731 vs 0.697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937760" y="3803904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E676"/>
                </a:solidFill>
              </a:rPr>
              <a:t>✓  </a:t>
            </a:r>
            <a:r>
              <a:rPr lang="en-US" sz="1050" dirty="0">
                <a:solidFill>
                  <a:srgbClr val="E0F0FF"/>
                </a:solidFill>
              </a:rPr>
              <a:t>Más rápido en inferencia: 2.3s vs 8.8s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937760" y="4334256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5252"/>
                </a:solidFill>
              </a:rPr>
              <a:t>✗  </a:t>
            </a:r>
            <a:r>
              <a:rPr lang="en-US" sz="1050" dirty="0">
                <a:solidFill>
                  <a:srgbClr val="E0F0FF"/>
                </a:solidFill>
              </a:rPr>
              <a:t>Peor Recall Largo: 0.478 vs 0.607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E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417320" cy="347472"/>
          </a:xfrm>
          <a:prstGeom prst="roundRect">
            <a:avLst>
              <a:gd name="adj" fmla="val 21053"/>
            </a:avLst>
          </a:prstGeom>
          <a:solidFill>
            <a:srgbClr val="FFB300">
              <a:alpha val="8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5603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E3C"/>
                </a:solidFill>
              </a:rPr>
              <a:t>EXPERIMENTO ADICIONAL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920240" y="256032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CatBoost — Ordered Boosting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94944"/>
            <a:ext cx="8458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F0FF"/>
                </a:solidFill>
              </a:rPr>
              <a:t>Desarrollado por Yandex. Entrena cada árbol sobre subconjuntos ordenados — evita usar el mismo dato para residuos y entrenamiento.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1993392" cy="1051560"/>
          </a:xfrm>
          <a:prstGeom prst="roundRect">
            <a:avLst>
              <a:gd name="adj" fmla="val 10435"/>
            </a:avLst>
          </a:prstGeom>
          <a:solidFill>
            <a:srgbClr val="162348"/>
          </a:solidFill>
          <a:ln/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170432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BFA5"/>
                </a:solidFill>
              </a:rPr>
              <a:t>0.671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65760" y="1691640"/>
            <a:ext cx="1993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0F0FF"/>
                </a:solidFill>
              </a:rPr>
              <a:t>F1-macro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947672"/>
            <a:ext cx="1993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8BA3C7"/>
                </a:solidFill>
              </a:rPr>
              <a:t>default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542032" y="1115568"/>
            <a:ext cx="1993392" cy="1051560"/>
          </a:xfrm>
          <a:prstGeom prst="roundRect">
            <a:avLst>
              <a:gd name="adj" fmla="val 10435"/>
            </a:avLst>
          </a:prstGeom>
          <a:solidFill>
            <a:srgbClr val="162348"/>
          </a:solidFill>
          <a:ln/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542032" y="1170432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BFA5"/>
                </a:solidFill>
              </a:rPr>
              <a:t>0.709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542032" y="1691640"/>
            <a:ext cx="1993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0F0FF"/>
                </a:solidFill>
              </a:rPr>
              <a:t>Recall-macro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18304" y="1115568"/>
            <a:ext cx="1993392" cy="1051560"/>
          </a:xfrm>
          <a:prstGeom prst="roundRect">
            <a:avLst>
              <a:gd name="adj" fmla="val 10435"/>
            </a:avLst>
          </a:prstGeom>
          <a:solidFill>
            <a:srgbClr val="00897B"/>
          </a:solidFill>
          <a:ln/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18304" y="1170432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</a:rPr>
              <a:t>0.657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718304" y="1691640"/>
            <a:ext cx="1993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0F0FF"/>
                </a:solidFill>
              </a:rPr>
              <a:t>Recall Largo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18304" y="1947672"/>
            <a:ext cx="1993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B300"/>
                </a:solidFill>
              </a:rPr>
              <a:t>★ 2do mejor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894576" y="1115568"/>
            <a:ext cx="1993392" cy="1051560"/>
          </a:xfrm>
          <a:prstGeom prst="roundRect">
            <a:avLst>
              <a:gd name="adj" fmla="val 10435"/>
            </a:avLst>
          </a:prstGeom>
          <a:solidFill>
            <a:srgbClr val="00897B"/>
          </a:solidFill>
          <a:ln/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94576" y="1170432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</a:rPr>
              <a:t>0.1s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894576" y="1691640"/>
            <a:ext cx="1993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0F0FF"/>
                </a:solidFill>
              </a:rPr>
              <a:t>Tiempo pred.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894576" y="1947672"/>
            <a:ext cx="1993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B300"/>
                </a:solidFill>
              </a:rPr>
              <a:t>★ más rápido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65760" y="2331720"/>
            <a:ext cx="2697480" cy="2606040"/>
          </a:xfrm>
          <a:prstGeom prst="roundRect">
            <a:avLst>
              <a:gd name="adj" fmla="val 4211"/>
            </a:avLst>
          </a:prstGeom>
          <a:solidFill>
            <a:srgbClr val="162348"/>
          </a:solidFill>
          <a:ln/>
          <a:effectLst>
            <a:outerShdw blurRad="177800" dist="508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5760" y="242316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📈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457200" y="299923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FA5"/>
                </a:solidFill>
              </a:rPr>
              <a:t>Recall Largo: 0.657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3383280"/>
            <a:ext cx="2514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0F0FF"/>
                </a:solidFill>
              </a:rPr>
              <a:t>Segundo mejor del proyecto. El ordered boosting captura mejor la clase minoritaria sin Optuna.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46120" y="2331720"/>
            <a:ext cx="2697480" cy="2606040"/>
          </a:xfrm>
          <a:prstGeom prst="roundRect">
            <a:avLst>
              <a:gd name="adj" fmla="val 4211"/>
            </a:avLst>
          </a:prstGeom>
          <a:solidFill>
            <a:srgbClr val="162348"/>
          </a:solidFill>
          <a:ln/>
          <a:effectLst>
            <a:outerShdw blurRad="177800" dist="508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246120" y="242316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⚡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3337560" y="299923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FA5"/>
                </a:solidFill>
              </a:rPr>
              <a:t>Inferencia: 0.1 seg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337560" y="3383280"/>
            <a:ext cx="2514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0F0FF"/>
                </a:solidFill>
              </a:rPr>
              <a:t>Tan rápido como LinearSVC sobre 975k muestras. Ideal para producción con baja latencia.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26480" y="2331720"/>
            <a:ext cx="2697480" cy="2606040"/>
          </a:xfrm>
          <a:prstGeom prst="roundRect">
            <a:avLst>
              <a:gd name="adj" fmla="val 4211"/>
            </a:avLst>
          </a:prstGeom>
          <a:solidFill>
            <a:srgbClr val="162348"/>
          </a:solidFill>
          <a:ln/>
          <a:effectLst>
            <a:outerShdw blurRad="177800" dist="508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126480" y="242316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🔭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6217920" y="299923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FA5"/>
                </a:solidFill>
              </a:rPr>
              <a:t>Potencial sin explotar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217920" y="3383280"/>
            <a:ext cx="2514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0F0FF"/>
                </a:solidFill>
              </a:rPr>
              <a:t>Sin Optuna ya supera al baseline. Con tuning podría competir con RF en F1-macro. Línea de mejora futura.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E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Comparación Final de Modelos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1601852"/>
              </p:ext>
            </p:extLst>
          </p:nvPr>
        </p:nvGraphicFramePr>
        <p:xfrm>
          <a:off x="365760" y="823976"/>
          <a:ext cx="8412480" cy="2693922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8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0BFA5"/>
                          </a:solidFill>
                        </a:rPr>
                        <a:t>Modelo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0BFA5"/>
                          </a:solidFill>
                        </a:rPr>
                        <a:t>F1-macro ★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Accuracy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Recall Largo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Tiempo pred.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8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E0F0FF"/>
                          </a:solidFill>
                        </a:rPr>
                        <a:t>XGBoost (Optuna)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0BFA5"/>
                          </a:solidFill>
                        </a:rPr>
                        <a:t>0.7037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E0F0FF"/>
                          </a:solidFill>
                        </a:rPr>
                        <a:t>0.7513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F5252"/>
                          </a:solidFill>
                        </a:rPr>
                        <a:t>0.478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E0F0FF"/>
                          </a:solidFill>
                        </a:rPr>
                        <a:t>2.3 seg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8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B300"/>
                          </a:solidFill>
                        </a:rPr>
                        <a:t>Random Forest (Optuna) ★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B300"/>
                          </a:solidFill>
                        </a:rPr>
                        <a:t>0.7032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E0F0FF"/>
                          </a:solidFill>
                        </a:rPr>
                        <a:t>0.7319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0E676"/>
                          </a:solidFill>
                        </a:rPr>
                        <a:t>0.607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E0F0FF"/>
                          </a:solidFill>
                        </a:rPr>
                        <a:t>8.8 seg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8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E0F0FF"/>
                          </a:solidFill>
                        </a:rPr>
                        <a:t>CatBoost (default)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E0F0FF"/>
                          </a:solidFill>
                        </a:rPr>
                        <a:t>0.6708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E0F0FF"/>
                          </a:solidFill>
                        </a:rPr>
                        <a:t>0.6902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BFA5"/>
                          </a:solidFill>
                        </a:rPr>
                        <a:t>0.657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BFA5"/>
                          </a:solidFill>
                        </a:rPr>
                        <a:t>0.1 seg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8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E0F0FF"/>
                          </a:solidFill>
                        </a:rPr>
                        <a:t>LinearSVC (Optuna)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E0F0FF"/>
                          </a:solidFill>
                        </a:rPr>
                        <a:t>0.6005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E0F0FF"/>
                          </a:solidFill>
                        </a:rPr>
                        <a:t>0.6601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E0F0FF"/>
                          </a:solidFill>
                        </a:rPr>
                        <a:t>0.358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BFA5"/>
                          </a:solidFill>
                        </a:rPr>
                        <a:t>0.1 seg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8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E0F0FF"/>
                          </a:solidFill>
                        </a:rPr>
                        <a:t>Baseline — Log. Reg.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E0F0FF"/>
                          </a:solidFill>
                        </a:rPr>
                        <a:t>0.5960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E0F0FF"/>
                          </a:solidFill>
                        </a:rPr>
                        <a:t>0.6134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E0F0FF"/>
                          </a:solidFill>
                        </a:rPr>
                        <a:t>0.589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E0F0FF"/>
                          </a:solidFill>
                        </a:rPr>
                        <a:t>14.2 seg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8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F5252"/>
                          </a:solidFill>
                        </a:rPr>
                        <a:t>KNN (Optuna)*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F5252"/>
                          </a:solidFill>
                        </a:rPr>
                        <a:t>0.5916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F5252"/>
                          </a:solidFill>
                        </a:rPr>
                        <a:t>0.6518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F5252"/>
                          </a:solidFill>
                        </a:rPr>
                        <a:t>0.351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F5252"/>
                          </a:solidFill>
                        </a:rPr>
                        <a:t>22.9 seg*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349961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3C7"/>
                </a:solidFill>
              </a:rPr>
              <a:t>* KNN evaluado sobre muestra de 50k — inviable sobre el test completo (~975k).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762734" y="3897884"/>
            <a:ext cx="4919015" cy="9144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6814" y="3888740"/>
            <a:ext cx="16276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E0F0FF"/>
                </a:solidFill>
              </a:rPr>
              <a:t>XGBoost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6727469" y="3888740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BFA5"/>
                </a:solidFill>
              </a:rPr>
              <a:t>0.7037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1762734" y="4099052"/>
            <a:ext cx="4903013" cy="9144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6814" y="4089908"/>
            <a:ext cx="16276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E0F0FF"/>
                </a:solidFill>
              </a:rPr>
              <a:t>Rnd Forest ★</a:t>
            </a:r>
            <a:endParaRPr lang="en-US" sz="800" dirty="0"/>
          </a:p>
        </p:txBody>
      </p:sp>
      <p:sp>
        <p:nvSpPr>
          <p:cNvPr id="3" name="Text 7"/>
          <p:cNvSpPr/>
          <p:nvPr/>
        </p:nvSpPr>
        <p:spPr>
          <a:xfrm>
            <a:off x="6711467" y="4089908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B300"/>
                </a:solidFill>
              </a:rPr>
              <a:t>0.7032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1762734" y="4300220"/>
            <a:ext cx="3866083" cy="9144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6814" y="4291076"/>
            <a:ext cx="16276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E0F0FF"/>
                </a:solidFill>
              </a:rPr>
              <a:t>CatBoost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5674537" y="4291076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897B"/>
                </a:solidFill>
              </a:rPr>
              <a:t>0.6708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1762734" y="4501388"/>
            <a:ext cx="1616202" cy="914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16814" y="4492244"/>
            <a:ext cx="16276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E0F0FF"/>
                </a:solidFill>
              </a:rPr>
              <a:t>LinearSVC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3424656" y="4492244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4748B"/>
                </a:solidFill>
              </a:rPr>
              <a:t>0.6005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1762734" y="4702556"/>
            <a:ext cx="1472184" cy="9144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16814" y="4693412"/>
            <a:ext cx="16276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E0F0FF"/>
                </a:solidFill>
              </a:rPr>
              <a:t>Baseline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3280638" y="4693412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475569"/>
                </a:solidFill>
              </a:rPr>
              <a:t>0.5960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762734" y="4903724"/>
            <a:ext cx="1331366" cy="91440"/>
          </a:xfrm>
          <a:prstGeom prst="rect">
            <a:avLst/>
          </a:prstGeom>
          <a:solidFill>
            <a:srgbClr val="FF5252"/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16814" y="4894580"/>
            <a:ext cx="16276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E0F0FF"/>
                </a:solidFill>
              </a:rPr>
              <a:t>KNN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3139820" y="4894580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5252"/>
                </a:solidFill>
              </a:rPr>
              <a:t>0.5916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F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E3C"/>
          </a:solidFill>
          <a:ln w="12700">
            <a:solidFill>
              <a:srgbClr val="0F1E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Conclusiones</a:t>
            </a:r>
            <a:endParaRPr lang="en-US" sz="3000" dirty="0"/>
          </a:p>
        </p:txBody>
      </p:sp>
      <p:sp>
        <p:nvSpPr>
          <p:cNvPr id="33" name="Shape 4">
            <a:extLst>
              <a:ext uri="{FF2B5EF4-FFF2-40B4-BE49-F238E27FC236}">
                <a16:creationId xmlns:a16="http://schemas.microsoft.com/office/drawing/2014/main" id="{8EED3D67-24A0-4754-9F78-648CC3EF7048}"/>
              </a:ext>
            </a:extLst>
          </p:cNvPr>
          <p:cNvSpPr/>
          <p:nvPr/>
        </p:nvSpPr>
        <p:spPr>
          <a:xfrm>
            <a:off x="365760" y="1103630"/>
            <a:ext cx="2606040" cy="822960"/>
          </a:xfrm>
          <a:prstGeom prst="roundRect">
            <a:avLst>
              <a:gd name="adj" fmla="val 11111"/>
            </a:avLst>
          </a:prstGeom>
          <a:solidFill>
            <a:srgbClr val="00BFA5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4" name="Text 5">
            <a:extLst>
              <a:ext uri="{FF2B5EF4-FFF2-40B4-BE49-F238E27FC236}">
                <a16:creationId xmlns:a16="http://schemas.microsoft.com/office/drawing/2014/main" id="{685B6829-E44A-4CB2-B326-6D5C0609C0C2}"/>
              </a:ext>
            </a:extLst>
          </p:cNvPr>
          <p:cNvSpPr/>
          <p:nvPr/>
        </p:nvSpPr>
        <p:spPr>
          <a:xfrm>
            <a:off x="365760" y="1131062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F1E3C"/>
                </a:solidFill>
              </a:rPr>
              <a:t>0.703</a:t>
            </a:r>
            <a:endParaRPr lang="en-US" sz="2600" dirty="0"/>
          </a:p>
        </p:txBody>
      </p:sp>
      <p:sp>
        <p:nvSpPr>
          <p:cNvPr id="35" name="Text 6">
            <a:extLst>
              <a:ext uri="{FF2B5EF4-FFF2-40B4-BE49-F238E27FC236}">
                <a16:creationId xmlns:a16="http://schemas.microsoft.com/office/drawing/2014/main" id="{837DB676-E332-4773-98B4-231BFD7DEB16}"/>
              </a:ext>
            </a:extLst>
          </p:cNvPr>
          <p:cNvSpPr/>
          <p:nvPr/>
        </p:nvSpPr>
        <p:spPr>
          <a:xfrm>
            <a:off x="365760" y="1579118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2F5A"/>
                </a:solidFill>
              </a:rPr>
              <a:t>F1-macro</a:t>
            </a:r>
            <a:endParaRPr lang="en-US" sz="900" dirty="0"/>
          </a:p>
        </p:txBody>
      </p:sp>
      <p:sp>
        <p:nvSpPr>
          <p:cNvPr id="36" name="Text 7">
            <a:extLst>
              <a:ext uri="{FF2B5EF4-FFF2-40B4-BE49-F238E27FC236}">
                <a16:creationId xmlns:a16="http://schemas.microsoft.com/office/drawing/2014/main" id="{50238D16-592D-4616-90DA-194CA27AE8DC}"/>
              </a:ext>
            </a:extLst>
          </p:cNvPr>
          <p:cNvSpPr/>
          <p:nvPr/>
        </p:nvSpPr>
        <p:spPr>
          <a:xfrm>
            <a:off x="365760" y="1771142"/>
            <a:ext cx="2606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2F5A"/>
                </a:solidFill>
              </a:rPr>
              <a:t>métrica principal</a:t>
            </a:r>
            <a:endParaRPr lang="en-US" sz="800" dirty="0"/>
          </a:p>
        </p:txBody>
      </p:sp>
      <p:sp>
        <p:nvSpPr>
          <p:cNvPr id="37" name="Shape 8">
            <a:extLst>
              <a:ext uri="{FF2B5EF4-FFF2-40B4-BE49-F238E27FC236}">
                <a16:creationId xmlns:a16="http://schemas.microsoft.com/office/drawing/2014/main" id="{1717B9DC-38E6-4169-A9F3-DA4FB2AB6BEF}"/>
              </a:ext>
            </a:extLst>
          </p:cNvPr>
          <p:cNvSpPr/>
          <p:nvPr/>
        </p:nvSpPr>
        <p:spPr>
          <a:xfrm>
            <a:off x="3200400" y="1103630"/>
            <a:ext cx="2606040" cy="822960"/>
          </a:xfrm>
          <a:prstGeom prst="roundRect">
            <a:avLst>
              <a:gd name="adj" fmla="val 11111"/>
            </a:avLst>
          </a:prstGeom>
          <a:solidFill>
            <a:srgbClr val="162348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8" name="Text 9">
            <a:extLst>
              <a:ext uri="{FF2B5EF4-FFF2-40B4-BE49-F238E27FC236}">
                <a16:creationId xmlns:a16="http://schemas.microsoft.com/office/drawing/2014/main" id="{890D5845-9A87-4E20-B8A9-D03F8D2E7B5A}"/>
              </a:ext>
            </a:extLst>
          </p:cNvPr>
          <p:cNvSpPr/>
          <p:nvPr/>
        </p:nvSpPr>
        <p:spPr>
          <a:xfrm>
            <a:off x="3200400" y="1131062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BFA5"/>
                </a:solidFill>
              </a:rPr>
              <a:t>0.722</a:t>
            </a:r>
            <a:endParaRPr lang="en-US" sz="2600" dirty="0"/>
          </a:p>
        </p:txBody>
      </p:sp>
      <p:sp>
        <p:nvSpPr>
          <p:cNvPr id="39" name="Text 10">
            <a:extLst>
              <a:ext uri="{FF2B5EF4-FFF2-40B4-BE49-F238E27FC236}">
                <a16:creationId xmlns:a16="http://schemas.microsoft.com/office/drawing/2014/main" id="{4F75AE3A-D180-44F4-9F87-D0F4E28D648F}"/>
              </a:ext>
            </a:extLst>
          </p:cNvPr>
          <p:cNvSpPr/>
          <p:nvPr/>
        </p:nvSpPr>
        <p:spPr>
          <a:xfrm>
            <a:off x="3200400" y="1579118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0F0FF"/>
                </a:solidFill>
              </a:rPr>
              <a:t>Recall-macro</a:t>
            </a:r>
            <a:endParaRPr lang="en-US" sz="900" dirty="0"/>
          </a:p>
        </p:txBody>
      </p:sp>
      <p:sp>
        <p:nvSpPr>
          <p:cNvPr id="40" name="Text 11">
            <a:extLst>
              <a:ext uri="{FF2B5EF4-FFF2-40B4-BE49-F238E27FC236}">
                <a16:creationId xmlns:a16="http://schemas.microsoft.com/office/drawing/2014/main" id="{E395B3EB-E505-4159-8BD1-CA2F0BDAE494}"/>
              </a:ext>
            </a:extLst>
          </p:cNvPr>
          <p:cNvSpPr/>
          <p:nvPr/>
        </p:nvSpPr>
        <p:spPr>
          <a:xfrm>
            <a:off x="3200400" y="1771142"/>
            <a:ext cx="2606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A3C7"/>
                </a:solidFill>
              </a:rPr>
              <a:t>mejor del proyecto</a:t>
            </a:r>
            <a:endParaRPr lang="en-US" sz="800" dirty="0"/>
          </a:p>
        </p:txBody>
      </p:sp>
      <p:sp>
        <p:nvSpPr>
          <p:cNvPr id="41" name="Shape 12">
            <a:extLst>
              <a:ext uri="{FF2B5EF4-FFF2-40B4-BE49-F238E27FC236}">
                <a16:creationId xmlns:a16="http://schemas.microsoft.com/office/drawing/2014/main" id="{8E587A57-BFAB-464D-93D5-FFA00B6BE6B2}"/>
              </a:ext>
            </a:extLst>
          </p:cNvPr>
          <p:cNvSpPr/>
          <p:nvPr/>
        </p:nvSpPr>
        <p:spPr>
          <a:xfrm>
            <a:off x="6035040" y="1103630"/>
            <a:ext cx="2606040" cy="822960"/>
          </a:xfrm>
          <a:prstGeom prst="roundRect">
            <a:avLst>
              <a:gd name="adj" fmla="val 11111"/>
            </a:avLst>
          </a:prstGeom>
          <a:solidFill>
            <a:srgbClr val="162348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2" name="Text 13">
            <a:extLst>
              <a:ext uri="{FF2B5EF4-FFF2-40B4-BE49-F238E27FC236}">
                <a16:creationId xmlns:a16="http://schemas.microsoft.com/office/drawing/2014/main" id="{11F73B1D-0726-430B-B9A2-695DC8A01D15}"/>
              </a:ext>
            </a:extLst>
          </p:cNvPr>
          <p:cNvSpPr/>
          <p:nvPr/>
        </p:nvSpPr>
        <p:spPr>
          <a:xfrm>
            <a:off x="6035040" y="1131062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BFA5"/>
                </a:solidFill>
              </a:rPr>
              <a:t>0.607</a:t>
            </a:r>
            <a:endParaRPr lang="en-US" sz="2600" dirty="0"/>
          </a:p>
        </p:txBody>
      </p:sp>
      <p:sp>
        <p:nvSpPr>
          <p:cNvPr id="43" name="Text 14">
            <a:extLst>
              <a:ext uri="{FF2B5EF4-FFF2-40B4-BE49-F238E27FC236}">
                <a16:creationId xmlns:a16="http://schemas.microsoft.com/office/drawing/2014/main" id="{2BAE6BBA-F25F-4057-A2DF-800818B2E212}"/>
              </a:ext>
            </a:extLst>
          </p:cNvPr>
          <p:cNvSpPr/>
          <p:nvPr/>
        </p:nvSpPr>
        <p:spPr>
          <a:xfrm>
            <a:off x="6035040" y="1579118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0F0FF"/>
                </a:solidFill>
              </a:rPr>
              <a:t>Recall Largo</a:t>
            </a:r>
            <a:endParaRPr lang="en-US" sz="900" dirty="0"/>
          </a:p>
        </p:txBody>
      </p:sp>
      <p:sp>
        <p:nvSpPr>
          <p:cNvPr id="44" name="Text 15">
            <a:extLst>
              <a:ext uri="{FF2B5EF4-FFF2-40B4-BE49-F238E27FC236}">
                <a16:creationId xmlns:a16="http://schemas.microsoft.com/office/drawing/2014/main" id="{6D6AA05A-C26C-4D5E-8ABC-C0BE5F928407}"/>
              </a:ext>
            </a:extLst>
          </p:cNvPr>
          <p:cNvSpPr/>
          <p:nvPr/>
        </p:nvSpPr>
        <p:spPr>
          <a:xfrm>
            <a:off x="6035040" y="1771142"/>
            <a:ext cx="2606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A3C7"/>
                </a:solidFill>
              </a:rPr>
              <a:t>objetivo operativo clave</a:t>
            </a:r>
            <a:endParaRPr lang="en-US" sz="800" dirty="0"/>
          </a:p>
        </p:txBody>
      </p:sp>
      <p:sp>
        <p:nvSpPr>
          <p:cNvPr id="45" name="Shape 16">
            <a:extLst>
              <a:ext uri="{FF2B5EF4-FFF2-40B4-BE49-F238E27FC236}">
                <a16:creationId xmlns:a16="http://schemas.microsoft.com/office/drawing/2014/main" id="{307C182B-D185-4354-8BD5-C82F142788EB}"/>
              </a:ext>
            </a:extLst>
          </p:cNvPr>
          <p:cNvSpPr/>
          <p:nvPr/>
        </p:nvSpPr>
        <p:spPr>
          <a:xfrm>
            <a:off x="320040" y="2109470"/>
            <a:ext cx="5074920" cy="2941320"/>
          </a:xfrm>
          <a:prstGeom prst="roundRect">
            <a:avLst>
              <a:gd name="adj" fmla="val 4179"/>
            </a:avLst>
          </a:prstGeom>
          <a:solidFill>
            <a:srgbClr val="162348"/>
          </a:solidFill>
          <a:ln/>
          <a:effectLst>
            <a:outerShdw blurRad="152400" dist="381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46" name="Text 17">
            <a:extLst>
              <a:ext uri="{FF2B5EF4-FFF2-40B4-BE49-F238E27FC236}">
                <a16:creationId xmlns:a16="http://schemas.microsoft.com/office/drawing/2014/main" id="{3AB81BAA-C96B-4D06-846A-143C50C86D99}"/>
              </a:ext>
            </a:extLst>
          </p:cNvPr>
          <p:cNvSpPr/>
          <p:nvPr/>
        </p:nvSpPr>
        <p:spPr>
          <a:xfrm>
            <a:off x="548640" y="210566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FA5"/>
                </a:solidFill>
              </a:rPr>
              <a:t>Hallazgos principales</a:t>
            </a:r>
            <a:endParaRPr lang="en-US" sz="1200" dirty="0"/>
          </a:p>
        </p:txBody>
      </p:sp>
      <p:sp>
        <p:nvSpPr>
          <p:cNvPr id="47" name="Text 18">
            <a:extLst>
              <a:ext uri="{FF2B5EF4-FFF2-40B4-BE49-F238E27FC236}">
                <a16:creationId xmlns:a16="http://schemas.microsoft.com/office/drawing/2014/main" id="{22CB6FE1-3233-4A01-B942-EF5AAA470F90}"/>
              </a:ext>
            </a:extLst>
          </p:cNvPr>
          <p:cNvSpPr/>
          <p:nvPr/>
        </p:nvSpPr>
        <p:spPr>
          <a:xfrm>
            <a:off x="502920" y="247142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🌳</a:t>
            </a:r>
            <a:endParaRPr lang="en-US" sz="1600" dirty="0"/>
          </a:p>
        </p:txBody>
      </p:sp>
      <p:sp>
        <p:nvSpPr>
          <p:cNvPr id="48" name="Text 19">
            <a:extLst>
              <a:ext uri="{FF2B5EF4-FFF2-40B4-BE49-F238E27FC236}">
                <a16:creationId xmlns:a16="http://schemas.microsoft.com/office/drawing/2014/main" id="{76C3B7BE-FCAB-48B2-8A7F-5EAA95F37D10}"/>
              </a:ext>
            </a:extLst>
          </p:cNvPr>
          <p:cNvSpPr/>
          <p:nvPr/>
        </p:nvSpPr>
        <p:spPr>
          <a:xfrm>
            <a:off x="914400" y="2471420"/>
            <a:ext cx="4343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FA5"/>
                </a:solidFill>
              </a:rPr>
              <a:t>Estructura no lineal confirmada</a:t>
            </a:r>
            <a:endParaRPr lang="en-US" sz="1000" dirty="0"/>
          </a:p>
        </p:txBody>
      </p:sp>
      <p:sp>
        <p:nvSpPr>
          <p:cNvPr id="49" name="Text 20">
            <a:extLst>
              <a:ext uri="{FF2B5EF4-FFF2-40B4-BE49-F238E27FC236}">
                <a16:creationId xmlns:a16="http://schemas.microsoft.com/office/drawing/2014/main" id="{E5FBF53E-7926-4AFC-8574-4C7BADECD116}"/>
              </a:ext>
            </a:extLst>
          </p:cNvPr>
          <p:cNvSpPr/>
          <p:nvPr/>
        </p:nvSpPr>
        <p:spPr>
          <a:xfrm>
            <a:off x="914400" y="2718308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F0FF"/>
                </a:solidFill>
              </a:rPr>
              <a:t>RF y XGBoost superan +10 pts de F1-macro a los modelos lineales. El problema requiere árboles para capturar las interacciones entre hora, distancia y destino.</a:t>
            </a:r>
            <a:endParaRPr lang="en-US" sz="900" dirty="0"/>
          </a:p>
        </p:txBody>
      </p:sp>
      <p:sp>
        <p:nvSpPr>
          <p:cNvPr id="50" name="Text 21">
            <a:extLst>
              <a:ext uri="{FF2B5EF4-FFF2-40B4-BE49-F238E27FC236}">
                <a16:creationId xmlns:a16="http://schemas.microsoft.com/office/drawing/2014/main" id="{92BCF055-8347-49B4-BEC0-F38C5E3C60B3}"/>
              </a:ext>
            </a:extLst>
          </p:cNvPr>
          <p:cNvSpPr/>
          <p:nvPr/>
        </p:nvSpPr>
        <p:spPr>
          <a:xfrm>
            <a:off x="502920" y="3129788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🔴</a:t>
            </a:r>
            <a:endParaRPr lang="en-US" sz="1600" dirty="0"/>
          </a:p>
        </p:txBody>
      </p:sp>
      <p:sp>
        <p:nvSpPr>
          <p:cNvPr id="51" name="Text 22">
            <a:extLst>
              <a:ext uri="{FF2B5EF4-FFF2-40B4-BE49-F238E27FC236}">
                <a16:creationId xmlns:a16="http://schemas.microsoft.com/office/drawing/2014/main" id="{FDE1F674-313B-4C53-AAF8-B2718D5C5632}"/>
              </a:ext>
            </a:extLst>
          </p:cNvPr>
          <p:cNvSpPr/>
          <p:nvPr/>
        </p:nvSpPr>
        <p:spPr>
          <a:xfrm>
            <a:off x="914400" y="3129788"/>
            <a:ext cx="4343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5252"/>
                </a:solidFill>
              </a:rPr>
              <a:t>Clase Largo: el cuello de botella universal</a:t>
            </a:r>
            <a:endParaRPr lang="en-US" sz="1000" dirty="0"/>
          </a:p>
        </p:txBody>
      </p:sp>
      <p:sp>
        <p:nvSpPr>
          <p:cNvPr id="52" name="Text 23">
            <a:extLst>
              <a:ext uri="{FF2B5EF4-FFF2-40B4-BE49-F238E27FC236}">
                <a16:creationId xmlns:a16="http://schemas.microsoft.com/office/drawing/2014/main" id="{D9CB768A-C189-4A08-8D77-36F91B79FAB5}"/>
              </a:ext>
            </a:extLst>
          </p:cNvPr>
          <p:cNvSpPr/>
          <p:nvPr/>
        </p:nvSpPr>
        <p:spPr>
          <a:xfrm>
            <a:off x="914400" y="3376676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F0FF"/>
                </a:solidFill>
              </a:rPr>
              <a:t>18% del dataset. Todos los modelos tienen su peor F1 en esta clase. Causa raíz: el comportamiento del usuario (si va directo, si pasea) no está en las features al momento de retirar la bici.</a:t>
            </a:r>
            <a:endParaRPr lang="en-US" sz="900" dirty="0"/>
          </a:p>
        </p:txBody>
      </p:sp>
      <p:sp>
        <p:nvSpPr>
          <p:cNvPr id="53" name="Text 24">
            <a:extLst>
              <a:ext uri="{FF2B5EF4-FFF2-40B4-BE49-F238E27FC236}">
                <a16:creationId xmlns:a16="http://schemas.microsoft.com/office/drawing/2014/main" id="{F599E2C9-39C9-42CF-81CA-9EF33C000E4C}"/>
              </a:ext>
            </a:extLst>
          </p:cNvPr>
          <p:cNvSpPr/>
          <p:nvPr/>
        </p:nvSpPr>
        <p:spPr>
          <a:xfrm>
            <a:off x="502920" y="3788156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🎯</a:t>
            </a:r>
            <a:endParaRPr lang="en-US" sz="1600" dirty="0"/>
          </a:p>
        </p:txBody>
      </p:sp>
      <p:sp>
        <p:nvSpPr>
          <p:cNvPr id="54" name="Text 25">
            <a:extLst>
              <a:ext uri="{FF2B5EF4-FFF2-40B4-BE49-F238E27FC236}">
                <a16:creationId xmlns:a16="http://schemas.microsoft.com/office/drawing/2014/main" id="{CDF92F34-F8AA-4168-9E34-634BD6737AFA}"/>
              </a:ext>
            </a:extLst>
          </p:cNvPr>
          <p:cNvSpPr/>
          <p:nvPr/>
        </p:nvSpPr>
        <p:spPr>
          <a:xfrm>
            <a:off x="914400" y="3788156"/>
            <a:ext cx="4343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B300"/>
                </a:solidFill>
              </a:rPr>
              <a:t>Optuna fue clave para los modelos no lineales</a:t>
            </a:r>
            <a:endParaRPr lang="en-US" sz="1000" dirty="0"/>
          </a:p>
        </p:txBody>
      </p:sp>
      <p:sp>
        <p:nvSpPr>
          <p:cNvPr id="55" name="Text 26">
            <a:extLst>
              <a:ext uri="{FF2B5EF4-FFF2-40B4-BE49-F238E27FC236}">
                <a16:creationId xmlns:a16="http://schemas.microsoft.com/office/drawing/2014/main" id="{191F7A3B-327E-41A3-804A-9FCDAC7AA1A6}"/>
              </a:ext>
            </a:extLst>
          </p:cNvPr>
          <p:cNvSpPr/>
          <p:nvPr/>
        </p:nvSpPr>
        <p:spPr>
          <a:xfrm>
            <a:off x="914400" y="4035044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F0FF"/>
                </a:solidFill>
              </a:rPr>
              <a:t>Búsqueda bayesiana (TPE) en 10–30 trials encontró hiperparámetros óptimos. RF pasó de F1-macro 0.68 (default) a 0.703 tras la optimización.</a:t>
            </a:r>
            <a:endParaRPr lang="en-US" sz="900" dirty="0"/>
          </a:p>
        </p:txBody>
      </p:sp>
      <p:sp>
        <p:nvSpPr>
          <p:cNvPr id="56" name="Text 27">
            <a:extLst>
              <a:ext uri="{FF2B5EF4-FFF2-40B4-BE49-F238E27FC236}">
                <a16:creationId xmlns:a16="http://schemas.microsoft.com/office/drawing/2014/main" id="{5B8C9941-36DF-4E72-A1D6-2505A18381E1}"/>
              </a:ext>
            </a:extLst>
          </p:cNvPr>
          <p:cNvSpPr/>
          <p:nvPr/>
        </p:nvSpPr>
        <p:spPr>
          <a:xfrm>
            <a:off x="502920" y="4446524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❌</a:t>
            </a:r>
            <a:endParaRPr lang="en-US" sz="1600" dirty="0"/>
          </a:p>
        </p:txBody>
      </p:sp>
      <p:sp>
        <p:nvSpPr>
          <p:cNvPr id="57" name="Text 28">
            <a:extLst>
              <a:ext uri="{FF2B5EF4-FFF2-40B4-BE49-F238E27FC236}">
                <a16:creationId xmlns:a16="http://schemas.microsoft.com/office/drawing/2014/main" id="{11358717-2BC0-43E6-8AD9-C5D012D39796}"/>
              </a:ext>
            </a:extLst>
          </p:cNvPr>
          <p:cNvSpPr/>
          <p:nvPr/>
        </p:nvSpPr>
        <p:spPr>
          <a:xfrm>
            <a:off x="914400" y="4446524"/>
            <a:ext cx="4343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A3C7"/>
                </a:solidFill>
              </a:rPr>
              <a:t>KNN: inviable a esta escala</a:t>
            </a:r>
            <a:endParaRPr lang="en-US" sz="1000" dirty="0"/>
          </a:p>
        </p:txBody>
      </p:sp>
      <p:sp>
        <p:nvSpPr>
          <p:cNvPr id="58" name="Text 29">
            <a:extLst>
              <a:ext uri="{FF2B5EF4-FFF2-40B4-BE49-F238E27FC236}">
                <a16:creationId xmlns:a16="http://schemas.microsoft.com/office/drawing/2014/main" id="{DDB2E33D-DE18-4D63-881F-BCD818413034}"/>
              </a:ext>
            </a:extLst>
          </p:cNvPr>
          <p:cNvSpPr/>
          <p:nvPr/>
        </p:nvSpPr>
        <p:spPr>
          <a:xfrm>
            <a:off x="914400" y="4693412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F0FF"/>
                </a:solidFill>
              </a:rPr>
              <a:t>Único modelo debajo del baseline. Maldición de la dimensionalidad con 19 features + costo O(n) en inferencia = 22.9 seg para solo 50k muestras.</a:t>
            </a:r>
            <a:endParaRPr lang="en-US" sz="900" dirty="0"/>
          </a:p>
        </p:txBody>
      </p:sp>
      <p:sp>
        <p:nvSpPr>
          <p:cNvPr id="59" name="Shape 30">
            <a:extLst>
              <a:ext uri="{FF2B5EF4-FFF2-40B4-BE49-F238E27FC236}">
                <a16:creationId xmlns:a16="http://schemas.microsoft.com/office/drawing/2014/main" id="{47F171E6-F64D-465E-A638-CAD13EEE2167}"/>
              </a:ext>
            </a:extLst>
          </p:cNvPr>
          <p:cNvSpPr/>
          <p:nvPr/>
        </p:nvSpPr>
        <p:spPr>
          <a:xfrm>
            <a:off x="5577840" y="2109470"/>
            <a:ext cx="3291840" cy="1508760"/>
          </a:xfrm>
          <a:prstGeom prst="roundRect">
            <a:avLst>
              <a:gd name="adj" fmla="val 8485"/>
            </a:avLst>
          </a:prstGeom>
          <a:solidFill>
            <a:srgbClr val="00BFA5">
              <a:alpha val="15000"/>
            </a:srgbClr>
          </a:solidFill>
          <a:ln/>
          <a:effectLst>
            <a:outerShdw blurRad="1524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0" name="Text 31">
            <a:extLst>
              <a:ext uri="{FF2B5EF4-FFF2-40B4-BE49-F238E27FC236}">
                <a16:creationId xmlns:a16="http://schemas.microsoft.com/office/drawing/2014/main" id="{B6DBA27E-B2BE-4532-B750-D152376292A7}"/>
              </a:ext>
            </a:extLst>
          </p:cNvPr>
          <p:cNvSpPr/>
          <p:nvPr/>
        </p:nvSpPr>
        <p:spPr>
          <a:xfrm>
            <a:off x="5760720" y="218262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FA5"/>
                </a:solidFill>
              </a:rPr>
              <a:t>Veredicto final</a:t>
            </a:r>
            <a:endParaRPr lang="en-US" sz="1100" dirty="0"/>
          </a:p>
        </p:txBody>
      </p:sp>
      <p:sp>
        <p:nvSpPr>
          <p:cNvPr id="61" name="Text 32">
            <a:extLst>
              <a:ext uri="{FF2B5EF4-FFF2-40B4-BE49-F238E27FC236}">
                <a16:creationId xmlns:a16="http://schemas.microsoft.com/office/drawing/2014/main" id="{189245A5-C514-4435-8ED0-85D8EB0B8137}"/>
              </a:ext>
            </a:extLst>
          </p:cNvPr>
          <p:cNvSpPr/>
          <p:nvPr/>
        </p:nvSpPr>
        <p:spPr>
          <a:xfrm>
            <a:off x="5760720" y="2466086"/>
            <a:ext cx="29260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F0FF"/>
                </a:solidFill>
              </a:rPr>
              <a:t>XGBoost lidera en F1-macro (0.704) y velocidad (2.3s).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0F0FF"/>
                </a:solidFill>
              </a:rPr>
              <a:t>Random Forest es el modelo recomendado operativamente: detecta mejor los viajes Largos (Recall 0.607 vs 0.478), el error más costoso para el usuario.</a:t>
            </a:r>
            <a:endParaRPr lang="en-US" sz="950" dirty="0"/>
          </a:p>
        </p:txBody>
      </p:sp>
      <p:sp>
        <p:nvSpPr>
          <p:cNvPr id="62" name="Text 34">
            <a:extLst>
              <a:ext uri="{FF2B5EF4-FFF2-40B4-BE49-F238E27FC236}">
                <a16:creationId xmlns:a16="http://schemas.microsoft.com/office/drawing/2014/main" id="{3E063802-342E-4D9B-85C7-F4C53A51AE95}"/>
              </a:ext>
            </a:extLst>
          </p:cNvPr>
          <p:cNvSpPr/>
          <p:nvPr/>
        </p:nvSpPr>
        <p:spPr>
          <a:xfrm>
            <a:off x="5760720" y="380111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300"/>
                </a:solidFill>
              </a:rPr>
              <a:t>💡 Métrica ML ↔ Negocio</a:t>
            </a:r>
            <a:endParaRPr lang="en-US" sz="1100" dirty="0"/>
          </a:p>
        </p:txBody>
      </p:sp>
      <p:sp>
        <p:nvSpPr>
          <p:cNvPr id="63" name="Shape 2">
            <a:extLst>
              <a:ext uri="{FF2B5EF4-FFF2-40B4-BE49-F238E27FC236}">
                <a16:creationId xmlns:a16="http://schemas.microsoft.com/office/drawing/2014/main" id="{14E76BCC-67C9-4EA8-BE78-A9E4FEECF6E9}"/>
              </a:ext>
            </a:extLst>
          </p:cNvPr>
          <p:cNvSpPr/>
          <p:nvPr/>
        </p:nvSpPr>
        <p:spPr>
          <a:xfrm>
            <a:off x="5029200" y="137160"/>
            <a:ext cx="3840480" cy="749808"/>
          </a:xfrm>
          <a:prstGeom prst="roundRect">
            <a:avLst>
              <a:gd name="adj" fmla="val 14634"/>
            </a:avLst>
          </a:prstGeom>
          <a:solidFill>
            <a:srgbClr val="00BFA5">
              <a:alpha val="85000"/>
            </a:srgbClr>
          </a:solidFill>
          <a:ln/>
        </p:spPr>
      </p:sp>
      <p:sp>
        <p:nvSpPr>
          <p:cNvPr id="64" name="Text 3">
            <a:extLst>
              <a:ext uri="{FF2B5EF4-FFF2-40B4-BE49-F238E27FC236}">
                <a16:creationId xmlns:a16="http://schemas.microsoft.com/office/drawing/2014/main" id="{5C545F83-BF0E-4D03-A6EA-6435615ABA8B}"/>
              </a:ext>
            </a:extLst>
          </p:cNvPr>
          <p:cNvSpPr/>
          <p:nvPr/>
        </p:nvSpPr>
        <p:spPr>
          <a:xfrm>
            <a:off x="5025390" y="26974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FFB300"/>
                </a:solidFill>
              </a:rPr>
              <a:t>★</a:t>
            </a:r>
            <a:r>
              <a:rPr lang="en-US" sz="1200" dirty="0">
                <a:solidFill>
                  <a:srgbClr val="FFB300"/>
                </a:solidFill>
              </a:rPr>
              <a:t>  </a:t>
            </a:r>
            <a:r>
              <a:rPr lang="en-US" b="1" dirty="0">
                <a:solidFill>
                  <a:srgbClr val="0F1E3C"/>
                </a:solidFill>
              </a:rPr>
              <a:t>Random Forest </a:t>
            </a:r>
          </a:p>
          <a:p>
            <a:pPr marL="0" indent="0" algn="ctr">
              <a:buNone/>
            </a:pPr>
            <a:r>
              <a:rPr lang="en-US" b="1" dirty="0" err="1">
                <a:solidFill>
                  <a:srgbClr val="0F1E3C"/>
                </a:solidFill>
              </a:rPr>
              <a:t>Modelo</a:t>
            </a:r>
            <a:r>
              <a:rPr lang="en-US" b="1" dirty="0">
                <a:solidFill>
                  <a:srgbClr val="0F1E3C"/>
                </a:solidFill>
              </a:rPr>
              <a:t> Recomendado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E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01168"/>
            <a:ext cx="475488" cy="4754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228600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Propuesta de Investigación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65760" y="1024128"/>
            <a:ext cx="8458200" cy="1078992"/>
          </a:xfrm>
          <a:prstGeom prst="roundRect">
            <a:avLst>
              <a:gd name="adj" fmla="val 10169"/>
            </a:avLst>
          </a:prstGeom>
          <a:solidFill>
            <a:srgbClr val="162348"/>
          </a:solidFill>
          <a:ln/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94360" y="107899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FA5"/>
                </a:solidFill>
              </a:rPr>
              <a:t>📍  Contexto operativo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94360" y="138988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0F0FF"/>
                </a:solidFill>
              </a:rPr>
              <a:t>Ecobici (GCBA) ofrece 30 minutos gratuitos por viaje. Todo viaje que supere ese límite genera un cargo adicional para el usuario. El sistema cuenta con ~3.2 millones de registros históricos con información disponible al momento de retirar la bicicleta: hora, día, estación de origen/destino, distancia, género y modelo de bici.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65760" y="2212848"/>
            <a:ext cx="8458200" cy="749808"/>
          </a:xfrm>
          <a:prstGeom prst="roundRect">
            <a:avLst>
              <a:gd name="adj" fmla="val 14634"/>
            </a:avLst>
          </a:prstGeom>
          <a:solidFill>
            <a:srgbClr val="00BFA5">
              <a:alpha val="12000"/>
            </a:srgbClr>
          </a:solidFill>
          <a:ln/>
          <a:effectLst>
            <a:outerShdw blurRad="1270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94360" y="226771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FA5"/>
                </a:solidFill>
              </a:rPr>
              <a:t>❓  Pregunta de investigación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94360" y="256032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F0FF"/>
                </a:solidFill>
              </a:rPr>
              <a:t>¿Es posible predecir la categoría de duración de un viaje Ecobici (Corto / Mediano / Largo) usando únicamente información disponible al momento de retirar la bicicleta, antes de que el viaje comience?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65760" y="3090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B300"/>
                </a:solidFill>
              </a:rPr>
              <a:t>Hipótesis de trabajo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65760" y="3429000"/>
            <a:ext cx="2697480" cy="1572768"/>
          </a:xfrm>
          <a:prstGeom prst="roundRect">
            <a:avLst>
              <a:gd name="adj" fmla="val 6977"/>
            </a:avLst>
          </a:prstGeom>
          <a:solidFill>
            <a:srgbClr val="162348"/>
          </a:solidFill>
          <a:ln/>
          <a:effectLst>
            <a:outerShdw blurRad="177800" dist="508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365760" y="3493008"/>
            <a:ext cx="2697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🕐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457200" y="393192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FA5"/>
                </a:solidFill>
              </a:rPr>
              <a:t>Señal temporal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57200" y="4242816"/>
            <a:ext cx="2514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0F0FF"/>
                </a:solidFill>
              </a:rPr>
              <a:t>La hora y el día de la semana codifican patrones de uso (commuting vs recreativo) que predicen si el viaje será largo.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3246120" y="3429000"/>
            <a:ext cx="2697480" cy="1572768"/>
          </a:xfrm>
          <a:prstGeom prst="roundRect">
            <a:avLst>
              <a:gd name="adj" fmla="val 6977"/>
            </a:avLst>
          </a:prstGeom>
          <a:solidFill>
            <a:srgbClr val="162348"/>
          </a:solidFill>
          <a:ln/>
          <a:effectLst>
            <a:outerShdw blurRad="177800" dist="508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3246120" y="3493008"/>
            <a:ext cx="2697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📍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3337560" y="393192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FA5"/>
                </a:solidFill>
              </a:rPr>
              <a:t>Señal geográfica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3337560" y="4242816"/>
            <a:ext cx="2514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0F0FF"/>
                </a:solidFill>
              </a:rPr>
              <a:t>La distancia entre estaciones y la ubicación geográfica son el predictor más directo de la duración del viaje.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126480" y="3429000"/>
            <a:ext cx="2697480" cy="1572768"/>
          </a:xfrm>
          <a:prstGeom prst="roundRect">
            <a:avLst>
              <a:gd name="adj" fmla="val 6977"/>
            </a:avLst>
          </a:prstGeom>
          <a:solidFill>
            <a:srgbClr val="162348"/>
          </a:solidFill>
          <a:ln/>
          <a:effectLst>
            <a:outerShdw blurRad="177800" dist="508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6126480" y="3493008"/>
            <a:ext cx="2697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🌳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6217920" y="393192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FA5"/>
                </a:solidFill>
              </a:rPr>
              <a:t>No linealidad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217920" y="4242816"/>
            <a:ext cx="2514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0F0FF"/>
                </a:solidFill>
              </a:rPr>
              <a:t>Las interacciones entre variables (hora + distancia + día) requieren modelos no lineales para capturarse correctamente.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E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1708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FFFFFF"/>
                </a:solidFill>
              </a:rPr>
              <a:t>Próximos</a:t>
            </a:r>
            <a:r>
              <a:rPr lang="en-US" sz="2400" b="1" dirty="0">
                <a:solidFill>
                  <a:srgbClr val="FFFFFF"/>
                </a:solidFill>
              </a:rPr>
              <a:t> Pasos y Referencias</a:t>
            </a:r>
            <a:endParaRPr lang="en-US" sz="2400" dirty="0"/>
          </a:p>
        </p:txBody>
      </p:sp>
      <p:sp>
        <p:nvSpPr>
          <p:cNvPr id="27" name="Shape 25"/>
          <p:cNvSpPr/>
          <p:nvPr/>
        </p:nvSpPr>
        <p:spPr>
          <a:xfrm>
            <a:off x="320040" y="4561586"/>
            <a:ext cx="8595360" cy="504190"/>
          </a:xfrm>
          <a:prstGeom prst="roundRect">
            <a:avLst>
              <a:gd name="adj" fmla="val 10204"/>
            </a:avLst>
          </a:prstGeom>
          <a:solidFill>
            <a:srgbClr val="162348"/>
          </a:solidFill>
          <a:ln/>
          <a:effectLst>
            <a:outerShdw blurRad="1016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430072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FA5"/>
                </a:solidFill>
              </a:rPr>
              <a:t>📚  Referencias bibliográficas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8640" y="4561586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3C7"/>
                </a:solidFill>
              </a:rPr>
              <a:t>Pedregosa et al. (2011). Scikit-learn: Machine Learning in Python. JMLR, 12, 2825–2830.  ·  Chen &amp; Guestrin (2016). XGBoost. KDD.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48640" y="4744466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3C7"/>
                </a:solidFill>
              </a:rPr>
              <a:t>Prokhorenkova et al. (2018). CatBoost: unbiased boosting with categorical features. NeurIPS.  ·  Akiba et al. (2019). Optuna. KDD.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48640" y="4927346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3C7"/>
                </a:solidFill>
              </a:rPr>
              <a:t>James et al. (2021). An Introduction to Statistical Learning (2nd ed.). Springer.  ·  Dataset: Buenos Aires Data — data.buenosaires.gob.ar/dataset/bicicletas-publicas  (CC BY 4.0).</a:t>
            </a:r>
            <a:endParaRPr lang="en-US" sz="800" dirty="0"/>
          </a:p>
        </p:txBody>
      </p:sp>
      <p:sp>
        <p:nvSpPr>
          <p:cNvPr id="32" name="Shape 3">
            <a:extLst>
              <a:ext uri="{FF2B5EF4-FFF2-40B4-BE49-F238E27FC236}">
                <a16:creationId xmlns:a16="http://schemas.microsoft.com/office/drawing/2014/main" id="{9E3EB458-4312-4451-A29E-30C594C79EEA}"/>
              </a:ext>
            </a:extLst>
          </p:cNvPr>
          <p:cNvSpPr/>
          <p:nvPr/>
        </p:nvSpPr>
        <p:spPr>
          <a:xfrm>
            <a:off x="804671" y="729996"/>
            <a:ext cx="45719" cy="3391154"/>
          </a:xfrm>
          <a:prstGeom prst="rect">
            <a:avLst/>
          </a:prstGeom>
          <a:solidFill>
            <a:srgbClr val="00897B">
              <a:alpha val="60000"/>
            </a:srgbClr>
          </a:solidFill>
          <a:ln w="12700">
            <a:solidFill>
              <a:srgbClr val="00897B">
                <a:alpha val="60000"/>
              </a:srgbClr>
            </a:solidFill>
            <a:prstDash val="solid"/>
          </a:ln>
        </p:spPr>
      </p:sp>
      <p:sp>
        <p:nvSpPr>
          <p:cNvPr id="33" name="Shape 4">
            <a:extLst>
              <a:ext uri="{FF2B5EF4-FFF2-40B4-BE49-F238E27FC236}">
                <a16:creationId xmlns:a16="http://schemas.microsoft.com/office/drawing/2014/main" id="{DFB21D37-5CB9-4E74-B61D-268132AB5095}"/>
              </a:ext>
            </a:extLst>
          </p:cNvPr>
          <p:cNvSpPr/>
          <p:nvPr/>
        </p:nvSpPr>
        <p:spPr>
          <a:xfrm>
            <a:off x="621792" y="877570"/>
            <a:ext cx="402336" cy="402336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4" name="Text 5">
            <a:extLst>
              <a:ext uri="{FF2B5EF4-FFF2-40B4-BE49-F238E27FC236}">
                <a16:creationId xmlns:a16="http://schemas.microsoft.com/office/drawing/2014/main" id="{53C61104-BBE4-444E-8CB2-BFF2C23C9D0C}"/>
              </a:ext>
            </a:extLst>
          </p:cNvPr>
          <p:cNvSpPr/>
          <p:nvPr/>
        </p:nvSpPr>
        <p:spPr>
          <a:xfrm>
            <a:off x="621792" y="87757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E3C"/>
                </a:solidFill>
              </a:rPr>
              <a:t>01</a:t>
            </a:r>
            <a:endParaRPr lang="en-US" sz="1000" dirty="0"/>
          </a:p>
        </p:txBody>
      </p:sp>
      <p:sp>
        <p:nvSpPr>
          <p:cNvPr id="35" name="Shape 6">
            <a:extLst>
              <a:ext uri="{FF2B5EF4-FFF2-40B4-BE49-F238E27FC236}">
                <a16:creationId xmlns:a16="http://schemas.microsoft.com/office/drawing/2014/main" id="{2A6388DD-0A2B-45E9-B238-971B52777761}"/>
              </a:ext>
            </a:extLst>
          </p:cNvPr>
          <p:cNvSpPr/>
          <p:nvPr/>
        </p:nvSpPr>
        <p:spPr>
          <a:xfrm>
            <a:off x="1097280" y="818896"/>
            <a:ext cx="7680960" cy="753618"/>
          </a:xfrm>
          <a:prstGeom prst="roundRect">
            <a:avLst>
              <a:gd name="adj" fmla="val 9524"/>
            </a:avLst>
          </a:prstGeom>
          <a:solidFill>
            <a:srgbClr val="162348"/>
          </a:solidFill>
          <a:ln/>
          <a:effectLst>
            <a:outerShdw blurRad="1016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6" name="Text 7">
            <a:extLst>
              <a:ext uri="{FF2B5EF4-FFF2-40B4-BE49-F238E27FC236}">
                <a16:creationId xmlns:a16="http://schemas.microsoft.com/office/drawing/2014/main" id="{D088E25A-24E5-4AC2-B059-0279D75A8087}"/>
              </a:ext>
            </a:extLst>
          </p:cNvPr>
          <p:cNvSpPr/>
          <p:nvPr/>
        </p:nvSpPr>
        <p:spPr>
          <a:xfrm>
            <a:off x="1234440" y="85928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👤</a:t>
            </a:r>
            <a:endParaRPr lang="en-US" sz="1600" dirty="0"/>
          </a:p>
        </p:txBody>
      </p:sp>
      <p:sp>
        <p:nvSpPr>
          <p:cNvPr id="37" name="Text 8">
            <a:extLst>
              <a:ext uri="{FF2B5EF4-FFF2-40B4-BE49-F238E27FC236}">
                <a16:creationId xmlns:a16="http://schemas.microsoft.com/office/drawing/2014/main" id="{C09CE13F-CA5E-456C-91D8-8837A6872291}"/>
              </a:ext>
            </a:extLst>
          </p:cNvPr>
          <p:cNvSpPr/>
          <p:nvPr/>
        </p:nvSpPr>
        <p:spPr>
          <a:xfrm>
            <a:off x="1600200" y="85928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FA5"/>
                </a:solidFill>
              </a:rPr>
              <a:t>Incorporar historial del usuario</a:t>
            </a:r>
            <a:endParaRPr lang="en-US" sz="1100" dirty="0"/>
          </a:p>
        </p:txBody>
      </p:sp>
      <p:sp>
        <p:nvSpPr>
          <p:cNvPr id="38" name="Shape 9">
            <a:extLst>
              <a:ext uri="{FF2B5EF4-FFF2-40B4-BE49-F238E27FC236}">
                <a16:creationId xmlns:a16="http://schemas.microsoft.com/office/drawing/2014/main" id="{809EC5C8-0328-44B7-B45B-85069B7FCB60}"/>
              </a:ext>
            </a:extLst>
          </p:cNvPr>
          <p:cNvSpPr/>
          <p:nvPr/>
        </p:nvSpPr>
        <p:spPr>
          <a:xfrm>
            <a:off x="6812280" y="877570"/>
            <a:ext cx="1005840" cy="237744"/>
          </a:xfrm>
          <a:prstGeom prst="roundRect">
            <a:avLst>
              <a:gd name="adj" fmla="val 23077"/>
            </a:avLst>
          </a:prstGeom>
          <a:solidFill>
            <a:srgbClr val="00E676">
              <a:alpha val="75000"/>
            </a:srgbClr>
          </a:solidFill>
          <a:ln/>
        </p:spPr>
      </p:sp>
      <p:sp>
        <p:nvSpPr>
          <p:cNvPr id="39" name="Text 10">
            <a:extLst>
              <a:ext uri="{FF2B5EF4-FFF2-40B4-BE49-F238E27FC236}">
                <a16:creationId xmlns:a16="http://schemas.microsoft.com/office/drawing/2014/main" id="{F8D6C451-D4C6-4B54-B8FA-61A21FA5E77C}"/>
              </a:ext>
            </a:extLst>
          </p:cNvPr>
          <p:cNvSpPr/>
          <p:nvPr/>
        </p:nvSpPr>
        <p:spPr>
          <a:xfrm>
            <a:off x="6812280" y="87757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E676"/>
                </a:solidFill>
              </a:rPr>
              <a:t>Impacto Alto</a:t>
            </a:r>
            <a:endParaRPr lang="en-US" sz="800" dirty="0"/>
          </a:p>
        </p:txBody>
      </p:sp>
      <p:sp>
        <p:nvSpPr>
          <p:cNvPr id="40" name="Text 11">
            <a:extLst>
              <a:ext uri="{FF2B5EF4-FFF2-40B4-BE49-F238E27FC236}">
                <a16:creationId xmlns:a16="http://schemas.microsoft.com/office/drawing/2014/main" id="{293C0EEE-A2EC-4EC5-AA7A-B973564383BD}"/>
              </a:ext>
            </a:extLst>
          </p:cNvPr>
          <p:cNvSpPr/>
          <p:nvPr/>
        </p:nvSpPr>
        <p:spPr>
          <a:xfrm>
            <a:off x="1234440" y="1170178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BA3C7"/>
                </a:solidFill>
              </a:rPr>
              <a:t>Qué: </a:t>
            </a:r>
            <a:r>
              <a:rPr lang="en-US" sz="850" dirty="0">
                <a:solidFill>
                  <a:srgbClr val="E0F0FF"/>
                </a:solidFill>
              </a:rPr>
              <a:t>Agregar como feature la duración promedio de los últimos N viajes del usuario al momento de retirar la bici.</a:t>
            </a:r>
            <a:endParaRPr lang="en-US" sz="850" dirty="0"/>
          </a:p>
        </p:txBody>
      </p:sp>
      <p:sp>
        <p:nvSpPr>
          <p:cNvPr id="41" name="Text 12">
            <a:extLst>
              <a:ext uri="{FF2B5EF4-FFF2-40B4-BE49-F238E27FC236}">
                <a16:creationId xmlns:a16="http://schemas.microsoft.com/office/drawing/2014/main" id="{7A28B433-EB89-4049-A063-5927CE70F55B}"/>
              </a:ext>
            </a:extLst>
          </p:cNvPr>
          <p:cNvSpPr/>
          <p:nvPr/>
        </p:nvSpPr>
        <p:spPr>
          <a:xfrm>
            <a:off x="4846320" y="1151128"/>
            <a:ext cx="3840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B300"/>
                </a:solidFill>
              </a:rPr>
              <a:t>Por qué: </a:t>
            </a:r>
            <a:r>
              <a:rPr lang="en-US" sz="850" dirty="0">
                <a:solidFill>
                  <a:srgbClr val="E0F0FF"/>
                </a:solidFill>
              </a:rPr>
              <a:t>El comportamiento pasado del usuario es la señal más predictiva de la duración futura — actualmente ausente en el dataset.</a:t>
            </a:r>
            <a:endParaRPr lang="en-US" sz="850" dirty="0"/>
          </a:p>
        </p:txBody>
      </p:sp>
      <p:sp>
        <p:nvSpPr>
          <p:cNvPr id="42" name="Shape 13">
            <a:extLst>
              <a:ext uri="{FF2B5EF4-FFF2-40B4-BE49-F238E27FC236}">
                <a16:creationId xmlns:a16="http://schemas.microsoft.com/office/drawing/2014/main" id="{02472F2A-8F50-445D-A772-D2878468F090}"/>
              </a:ext>
            </a:extLst>
          </p:cNvPr>
          <p:cNvSpPr/>
          <p:nvPr/>
        </p:nvSpPr>
        <p:spPr>
          <a:xfrm>
            <a:off x="621792" y="1732280"/>
            <a:ext cx="402336" cy="402336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43" name="Text 14">
            <a:extLst>
              <a:ext uri="{FF2B5EF4-FFF2-40B4-BE49-F238E27FC236}">
                <a16:creationId xmlns:a16="http://schemas.microsoft.com/office/drawing/2014/main" id="{8C6A9AD4-E009-43DE-B94B-8B941A034D71}"/>
              </a:ext>
            </a:extLst>
          </p:cNvPr>
          <p:cNvSpPr/>
          <p:nvPr/>
        </p:nvSpPr>
        <p:spPr>
          <a:xfrm>
            <a:off x="621792" y="17322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E3C"/>
                </a:solidFill>
              </a:rPr>
              <a:t>02</a:t>
            </a:r>
            <a:endParaRPr lang="en-US" sz="1000" dirty="0"/>
          </a:p>
        </p:txBody>
      </p:sp>
      <p:sp>
        <p:nvSpPr>
          <p:cNvPr id="44" name="Shape 15">
            <a:extLst>
              <a:ext uri="{FF2B5EF4-FFF2-40B4-BE49-F238E27FC236}">
                <a16:creationId xmlns:a16="http://schemas.microsoft.com/office/drawing/2014/main" id="{D3F26AD9-175F-4C5E-8BC6-AF70D450BAC4}"/>
              </a:ext>
            </a:extLst>
          </p:cNvPr>
          <p:cNvSpPr/>
          <p:nvPr/>
        </p:nvSpPr>
        <p:spPr>
          <a:xfrm>
            <a:off x="1097280" y="1661922"/>
            <a:ext cx="7680960" cy="758698"/>
          </a:xfrm>
          <a:prstGeom prst="roundRect">
            <a:avLst>
              <a:gd name="adj" fmla="val 9524"/>
            </a:avLst>
          </a:prstGeom>
          <a:solidFill>
            <a:srgbClr val="162348"/>
          </a:solidFill>
          <a:ln/>
          <a:effectLst>
            <a:outerShdw blurRad="1016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5" name="Text 16">
            <a:extLst>
              <a:ext uri="{FF2B5EF4-FFF2-40B4-BE49-F238E27FC236}">
                <a16:creationId xmlns:a16="http://schemas.microsoft.com/office/drawing/2014/main" id="{635A005D-4F29-4442-98E6-3B8556250AAB}"/>
              </a:ext>
            </a:extLst>
          </p:cNvPr>
          <p:cNvSpPr/>
          <p:nvPr/>
        </p:nvSpPr>
        <p:spPr>
          <a:xfrm>
            <a:off x="1188720" y="16891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⚡</a:t>
            </a:r>
            <a:endParaRPr lang="en-US" sz="1600" dirty="0"/>
          </a:p>
        </p:txBody>
      </p:sp>
      <p:sp>
        <p:nvSpPr>
          <p:cNvPr id="46" name="Text 17">
            <a:extLst>
              <a:ext uri="{FF2B5EF4-FFF2-40B4-BE49-F238E27FC236}">
                <a16:creationId xmlns:a16="http://schemas.microsoft.com/office/drawing/2014/main" id="{FD247972-A1FC-4DD7-985C-D66F4C5932AC}"/>
              </a:ext>
            </a:extLst>
          </p:cNvPr>
          <p:cNvSpPr/>
          <p:nvPr/>
        </p:nvSpPr>
        <p:spPr>
          <a:xfrm>
            <a:off x="1554480" y="16891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FA5"/>
                </a:solidFill>
              </a:rPr>
              <a:t>Optimizar CatBoost con Optuna</a:t>
            </a:r>
            <a:endParaRPr lang="en-US" sz="1100" dirty="0"/>
          </a:p>
        </p:txBody>
      </p:sp>
      <p:sp>
        <p:nvSpPr>
          <p:cNvPr id="47" name="Shape 18">
            <a:extLst>
              <a:ext uri="{FF2B5EF4-FFF2-40B4-BE49-F238E27FC236}">
                <a16:creationId xmlns:a16="http://schemas.microsoft.com/office/drawing/2014/main" id="{32D19BEF-9CA2-4C07-8FE6-0E9B1AF0E242}"/>
              </a:ext>
            </a:extLst>
          </p:cNvPr>
          <p:cNvSpPr/>
          <p:nvPr/>
        </p:nvSpPr>
        <p:spPr>
          <a:xfrm>
            <a:off x="6766560" y="1701292"/>
            <a:ext cx="1005840" cy="237744"/>
          </a:xfrm>
          <a:prstGeom prst="roundRect">
            <a:avLst>
              <a:gd name="adj" fmla="val 23077"/>
            </a:avLst>
          </a:prstGeom>
          <a:solidFill>
            <a:srgbClr val="00E676">
              <a:alpha val="75000"/>
            </a:srgbClr>
          </a:solidFill>
          <a:ln/>
        </p:spPr>
      </p:sp>
      <p:sp>
        <p:nvSpPr>
          <p:cNvPr id="48" name="Text 19">
            <a:extLst>
              <a:ext uri="{FF2B5EF4-FFF2-40B4-BE49-F238E27FC236}">
                <a16:creationId xmlns:a16="http://schemas.microsoft.com/office/drawing/2014/main" id="{697AA169-042D-4DE0-92BE-A5898C942C19}"/>
              </a:ext>
            </a:extLst>
          </p:cNvPr>
          <p:cNvSpPr/>
          <p:nvPr/>
        </p:nvSpPr>
        <p:spPr>
          <a:xfrm>
            <a:off x="6766560" y="174548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E676"/>
                </a:solidFill>
              </a:rPr>
              <a:t>Impacto Alto</a:t>
            </a:r>
            <a:endParaRPr lang="en-US" sz="800" dirty="0"/>
          </a:p>
        </p:txBody>
      </p:sp>
      <p:sp>
        <p:nvSpPr>
          <p:cNvPr id="49" name="Text 20">
            <a:extLst>
              <a:ext uri="{FF2B5EF4-FFF2-40B4-BE49-F238E27FC236}">
                <a16:creationId xmlns:a16="http://schemas.microsoft.com/office/drawing/2014/main" id="{43EE65E7-3038-4D74-BACB-064E090A47D5}"/>
              </a:ext>
            </a:extLst>
          </p:cNvPr>
          <p:cNvSpPr/>
          <p:nvPr/>
        </p:nvSpPr>
        <p:spPr>
          <a:xfrm>
            <a:off x="1207008" y="1845310"/>
            <a:ext cx="3520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BA3C7"/>
                </a:solidFill>
              </a:rPr>
              <a:t>Qué: </a:t>
            </a:r>
            <a:r>
              <a:rPr lang="en-US" sz="850" dirty="0">
                <a:solidFill>
                  <a:srgbClr val="E0F0FF"/>
                </a:solidFill>
              </a:rPr>
              <a:t>Aplicar búsqueda bayesiana (20–30 trials) sobre CatBoost, que con parámetros default ya obtuvo Recall Largo 0.657 — el 2° mejor.</a:t>
            </a:r>
            <a:endParaRPr lang="en-US" sz="850" dirty="0"/>
          </a:p>
        </p:txBody>
      </p:sp>
      <p:sp>
        <p:nvSpPr>
          <p:cNvPr id="50" name="Text 21">
            <a:extLst>
              <a:ext uri="{FF2B5EF4-FFF2-40B4-BE49-F238E27FC236}">
                <a16:creationId xmlns:a16="http://schemas.microsoft.com/office/drawing/2014/main" id="{010C5F48-CCCA-4C64-B935-404DD1DA52D1}"/>
              </a:ext>
            </a:extLst>
          </p:cNvPr>
          <p:cNvSpPr/>
          <p:nvPr/>
        </p:nvSpPr>
        <p:spPr>
          <a:xfrm>
            <a:off x="4800600" y="1882648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B300"/>
                </a:solidFill>
              </a:rPr>
              <a:t>Por qué: </a:t>
            </a:r>
            <a:r>
              <a:rPr lang="en-US" sz="850" dirty="0">
                <a:solidFill>
                  <a:srgbClr val="E0F0FF"/>
                </a:solidFill>
              </a:rPr>
              <a:t>Si con default supera a RF en Recall Largo (0.657 vs 0.607) manteniendo inferencia de 0.1s, sería el candidato ideal para producción.</a:t>
            </a:r>
            <a:endParaRPr lang="en-US" sz="850" dirty="0"/>
          </a:p>
        </p:txBody>
      </p:sp>
      <p:sp>
        <p:nvSpPr>
          <p:cNvPr id="51" name="Shape 22">
            <a:extLst>
              <a:ext uri="{FF2B5EF4-FFF2-40B4-BE49-F238E27FC236}">
                <a16:creationId xmlns:a16="http://schemas.microsoft.com/office/drawing/2014/main" id="{8294D3D9-5586-4B67-B3F9-332D74961111}"/>
              </a:ext>
            </a:extLst>
          </p:cNvPr>
          <p:cNvSpPr/>
          <p:nvPr/>
        </p:nvSpPr>
        <p:spPr>
          <a:xfrm>
            <a:off x="621792" y="2606040"/>
            <a:ext cx="402336" cy="402336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52" name="Text 23">
            <a:extLst>
              <a:ext uri="{FF2B5EF4-FFF2-40B4-BE49-F238E27FC236}">
                <a16:creationId xmlns:a16="http://schemas.microsoft.com/office/drawing/2014/main" id="{8586614F-54CF-457F-868C-5059F42FF7FD}"/>
              </a:ext>
            </a:extLst>
          </p:cNvPr>
          <p:cNvSpPr/>
          <p:nvPr/>
        </p:nvSpPr>
        <p:spPr>
          <a:xfrm>
            <a:off x="621792" y="2606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E3C"/>
                </a:solidFill>
              </a:rPr>
              <a:t>03</a:t>
            </a:r>
            <a:endParaRPr lang="en-US" sz="1000" dirty="0"/>
          </a:p>
        </p:txBody>
      </p:sp>
      <p:sp>
        <p:nvSpPr>
          <p:cNvPr id="53" name="Shape 24">
            <a:extLst>
              <a:ext uri="{FF2B5EF4-FFF2-40B4-BE49-F238E27FC236}">
                <a16:creationId xmlns:a16="http://schemas.microsoft.com/office/drawing/2014/main" id="{9C6ADFC6-1C1C-4FC2-9CA7-7891942137C1}"/>
              </a:ext>
            </a:extLst>
          </p:cNvPr>
          <p:cNvSpPr/>
          <p:nvPr/>
        </p:nvSpPr>
        <p:spPr>
          <a:xfrm>
            <a:off x="1083310" y="2494280"/>
            <a:ext cx="7680960" cy="819912"/>
          </a:xfrm>
          <a:prstGeom prst="roundRect">
            <a:avLst>
              <a:gd name="adj" fmla="val 9524"/>
            </a:avLst>
          </a:prstGeom>
          <a:solidFill>
            <a:srgbClr val="162348"/>
          </a:solidFill>
          <a:ln/>
          <a:effectLst>
            <a:outerShdw blurRad="1016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4" name="Text 25">
            <a:extLst>
              <a:ext uri="{FF2B5EF4-FFF2-40B4-BE49-F238E27FC236}">
                <a16:creationId xmlns:a16="http://schemas.microsoft.com/office/drawing/2014/main" id="{724CA44F-4CB8-4F46-9EDE-B20E1DF71FC9}"/>
              </a:ext>
            </a:extLst>
          </p:cNvPr>
          <p:cNvSpPr/>
          <p:nvPr/>
        </p:nvSpPr>
        <p:spPr>
          <a:xfrm>
            <a:off x="1234440" y="251790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⚖️</a:t>
            </a:r>
            <a:endParaRPr lang="en-US" sz="1600" dirty="0"/>
          </a:p>
        </p:txBody>
      </p:sp>
      <p:sp>
        <p:nvSpPr>
          <p:cNvPr id="55" name="Text 26">
            <a:extLst>
              <a:ext uri="{FF2B5EF4-FFF2-40B4-BE49-F238E27FC236}">
                <a16:creationId xmlns:a16="http://schemas.microsoft.com/office/drawing/2014/main" id="{99690324-E743-4968-B774-0871F21B1D87}"/>
              </a:ext>
            </a:extLst>
          </p:cNvPr>
          <p:cNvSpPr/>
          <p:nvPr/>
        </p:nvSpPr>
        <p:spPr>
          <a:xfrm>
            <a:off x="1600200" y="251790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FA5"/>
                </a:solidFill>
              </a:rPr>
              <a:t>Revisar umbrales de clasificación</a:t>
            </a:r>
            <a:endParaRPr lang="en-US" sz="1100" dirty="0"/>
          </a:p>
        </p:txBody>
      </p:sp>
      <p:sp>
        <p:nvSpPr>
          <p:cNvPr id="56" name="Shape 27">
            <a:extLst>
              <a:ext uri="{FF2B5EF4-FFF2-40B4-BE49-F238E27FC236}">
                <a16:creationId xmlns:a16="http://schemas.microsoft.com/office/drawing/2014/main" id="{90AF9531-14FF-411D-8AC4-0AAF29730B77}"/>
              </a:ext>
            </a:extLst>
          </p:cNvPr>
          <p:cNvSpPr/>
          <p:nvPr/>
        </p:nvSpPr>
        <p:spPr>
          <a:xfrm>
            <a:off x="6812280" y="2536190"/>
            <a:ext cx="1005840" cy="237744"/>
          </a:xfrm>
          <a:prstGeom prst="roundRect">
            <a:avLst>
              <a:gd name="adj" fmla="val 23077"/>
            </a:avLst>
          </a:prstGeom>
          <a:solidFill>
            <a:srgbClr val="FFB300">
              <a:alpha val="75000"/>
            </a:srgbClr>
          </a:solidFill>
          <a:ln/>
        </p:spPr>
      </p:sp>
      <p:sp>
        <p:nvSpPr>
          <p:cNvPr id="57" name="Text 28">
            <a:extLst>
              <a:ext uri="{FF2B5EF4-FFF2-40B4-BE49-F238E27FC236}">
                <a16:creationId xmlns:a16="http://schemas.microsoft.com/office/drawing/2014/main" id="{F0DD01F3-4E8E-4DDC-802A-EAB4602E9351}"/>
              </a:ext>
            </a:extLst>
          </p:cNvPr>
          <p:cNvSpPr/>
          <p:nvPr/>
        </p:nvSpPr>
        <p:spPr>
          <a:xfrm>
            <a:off x="6812280" y="253619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B300"/>
                </a:solidFill>
              </a:rPr>
              <a:t>Impacto Medio</a:t>
            </a:r>
            <a:endParaRPr lang="en-US" sz="800" dirty="0"/>
          </a:p>
        </p:txBody>
      </p:sp>
      <p:sp>
        <p:nvSpPr>
          <p:cNvPr id="58" name="Text 29">
            <a:extLst>
              <a:ext uri="{FF2B5EF4-FFF2-40B4-BE49-F238E27FC236}">
                <a16:creationId xmlns:a16="http://schemas.microsoft.com/office/drawing/2014/main" id="{51F9676A-5F52-44DB-A17A-3E6D1A4DF68D}"/>
              </a:ext>
            </a:extLst>
          </p:cNvPr>
          <p:cNvSpPr/>
          <p:nvPr/>
        </p:nvSpPr>
        <p:spPr>
          <a:xfrm>
            <a:off x="1234440" y="2828798"/>
            <a:ext cx="3520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BA3C7"/>
                </a:solidFill>
              </a:rPr>
              <a:t>Qué: </a:t>
            </a:r>
            <a:r>
              <a:rPr lang="en-US" sz="850" dirty="0">
                <a:solidFill>
                  <a:srgbClr val="E0F0FF"/>
                </a:solidFill>
              </a:rPr>
              <a:t>Los límites Corto/Mediano (10 min) y Mediano/Largo (30 min) generan alta confusión en la zona de frontera. Evaluar umbrales óptimos via curva ROC multiclase.</a:t>
            </a:r>
            <a:endParaRPr lang="en-US" sz="850" dirty="0"/>
          </a:p>
        </p:txBody>
      </p:sp>
      <p:sp>
        <p:nvSpPr>
          <p:cNvPr id="59" name="Text 30">
            <a:extLst>
              <a:ext uri="{FF2B5EF4-FFF2-40B4-BE49-F238E27FC236}">
                <a16:creationId xmlns:a16="http://schemas.microsoft.com/office/drawing/2014/main" id="{DED85A1E-099E-4D7F-9A54-6EA6C6371954}"/>
              </a:ext>
            </a:extLst>
          </p:cNvPr>
          <p:cNvSpPr/>
          <p:nvPr/>
        </p:nvSpPr>
        <p:spPr>
          <a:xfrm>
            <a:off x="4846320" y="2828798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B300"/>
                </a:solidFill>
              </a:rPr>
              <a:t>Por qué: </a:t>
            </a:r>
            <a:r>
              <a:rPr lang="en-US" sz="850" dirty="0">
                <a:solidFill>
                  <a:srgbClr val="E0F0FF"/>
                </a:solidFill>
              </a:rPr>
              <a:t>Ajustar el umbral de decisión para clase Largo puede mejorar el Recall sin reentrenar el modelo — impacto directo en producción.</a:t>
            </a:r>
            <a:endParaRPr lang="en-US" sz="850" dirty="0"/>
          </a:p>
        </p:txBody>
      </p:sp>
      <p:sp>
        <p:nvSpPr>
          <p:cNvPr id="60" name="Shape 31">
            <a:extLst>
              <a:ext uri="{FF2B5EF4-FFF2-40B4-BE49-F238E27FC236}">
                <a16:creationId xmlns:a16="http://schemas.microsoft.com/office/drawing/2014/main" id="{110AEC73-B773-4010-9FD1-CDA72943E5E4}"/>
              </a:ext>
            </a:extLst>
          </p:cNvPr>
          <p:cNvSpPr/>
          <p:nvPr/>
        </p:nvSpPr>
        <p:spPr>
          <a:xfrm>
            <a:off x="621792" y="3467100"/>
            <a:ext cx="402336" cy="402336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61" name="Text 32">
            <a:extLst>
              <a:ext uri="{FF2B5EF4-FFF2-40B4-BE49-F238E27FC236}">
                <a16:creationId xmlns:a16="http://schemas.microsoft.com/office/drawing/2014/main" id="{F5132E86-B17E-4F3A-BB10-B51C000B2BF9}"/>
              </a:ext>
            </a:extLst>
          </p:cNvPr>
          <p:cNvSpPr/>
          <p:nvPr/>
        </p:nvSpPr>
        <p:spPr>
          <a:xfrm>
            <a:off x="621792" y="34671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E3C"/>
                </a:solidFill>
              </a:rPr>
              <a:t>04</a:t>
            </a:r>
            <a:endParaRPr lang="en-US" sz="1000" dirty="0"/>
          </a:p>
        </p:txBody>
      </p:sp>
      <p:sp>
        <p:nvSpPr>
          <p:cNvPr id="62" name="Shape 33">
            <a:extLst>
              <a:ext uri="{FF2B5EF4-FFF2-40B4-BE49-F238E27FC236}">
                <a16:creationId xmlns:a16="http://schemas.microsoft.com/office/drawing/2014/main" id="{7E32AAB3-2FED-41AA-893B-F30E8D24EA6F}"/>
              </a:ext>
            </a:extLst>
          </p:cNvPr>
          <p:cNvSpPr/>
          <p:nvPr/>
        </p:nvSpPr>
        <p:spPr>
          <a:xfrm>
            <a:off x="1097280" y="3380486"/>
            <a:ext cx="7680960" cy="850392"/>
          </a:xfrm>
          <a:prstGeom prst="roundRect">
            <a:avLst>
              <a:gd name="adj" fmla="val 9524"/>
            </a:avLst>
          </a:prstGeom>
          <a:solidFill>
            <a:srgbClr val="162348"/>
          </a:solidFill>
          <a:ln/>
          <a:effectLst>
            <a:outerShdw blurRad="1016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3" name="Text 34">
            <a:extLst>
              <a:ext uri="{FF2B5EF4-FFF2-40B4-BE49-F238E27FC236}">
                <a16:creationId xmlns:a16="http://schemas.microsoft.com/office/drawing/2014/main" id="{1B22E3C4-7214-4199-A90C-5D817B93627F}"/>
              </a:ext>
            </a:extLst>
          </p:cNvPr>
          <p:cNvSpPr/>
          <p:nvPr/>
        </p:nvSpPr>
        <p:spPr>
          <a:xfrm>
            <a:off x="1188720" y="34117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64" name="Text 35">
            <a:extLst>
              <a:ext uri="{FF2B5EF4-FFF2-40B4-BE49-F238E27FC236}">
                <a16:creationId xmlns:a16="http://schemas.microsoft.com/office/drawing/2014/main" id="{3523BC35-7047-4D00-8147-24196AEA842E}"/>
              </a:ext>
            </a:extLst>
          </p:cNvPr>
          <p:cNvSpPr/>
          <p:nvPr/>
        </p:nvSpPr>
        <p:spPr>
          <a:xfrm>
            <a:off x="1554480" y="34117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FA5"/>
                </a:solidFill>
              </a:rPr>
              <a:t>Entrenar con dataset completo</a:t>
            </a:r>
            <a:endParaRPr lang="en-US" sz="1100" dirty="0"/>
          </a:p>
        </p:txBody>
      </p:sp>
      <p:sp>
        <p:nvSpPr>
          <p:cNvPr id="65" name="Shape 36">
            <a:extLst>
              <a:ext uri="{FF2B5EF4-FFF2-40B4-BE49-F238E27FC236}">
                <a16:creationId xmlns:a16="http://schemas.microsoft.com/office/drawing/2014/main" id="{5EA98C06-B264-4427-8871-ADD94B50727F}"/>
              </a:ext>
            </a:extLst>
          </p:cNvPr>
          <p:cNvSpPr/>
          <p:nvPr/>
        </p:nvSpPr>
        <p:spPr>
          <a:xfrm>
            <a:off x="6766560" y="3430016"/>
            <a:ext cx="1005840" cy="237744"/>
          </a:xfrm>
          <a:prstGeom prst="roundRect">
            <a:avLst>
              <a:gd name="adj" fmla="val 23077"/>
            </a:avLst>
          </a:prstGeom>
          <a:solidFill>
            <a:srgbClr val="FFB300">
              <a:alpha val="75000"/>
            </a:srgbClr>
          </a:solidFill>
          <a:ln/>
        </p:spPr>
      </p:sp>
      <p:sp>
        <p:nvSpPr>
          <p:cNvPr id="66" name="Text 37">
            <a:extLst>
              <a:ext uri="{FF2B5EF4-FFF2-40B4-BE49-F238E27FC236}">
                <a16:creationId xmlns:a16="http://schemas.microsoft.com/office/drawing/2014/main" id="{189D2B92-630E-481E-8666-671B716A7E56}"/>
              </a:ext>
            </a:extLst>
          </p:cNvPr>
          <p:cNvSpPr/>
          <p:nvPr/>
        </p:nvSpPr>
        <p:spPr>
          <a:xfrm>
            <a:off x="6766560" y="343001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B300"/>
                </a:solidFill>
              </a:rPr>
              <a:t>Impacto Medio</a:t>
            </a:r>
            <a:endParaRPr lang="en-US" sz="800" dirty="0"/>
          </a:p>
        </p:txBody>
      </p:sp>
      <p:sp>
        <p:nvSpPr>
          <p:cNvPr id="67" name="Text 38">
            <a:extLst>
              <a:ext uri="{FF2B5EF4-FFF2-40B4-BE49-F238E27FC236}">
                <a16:creationId xmlns:a16="http://schemas.microsoft.com/office/drawing/2014/main" id="{86A43A30-AE9D-4A69-9A13-3E809DC916C4}"/>
              </a:ext>
            </a:extLst>
          </p:cNvPr>
          <p:cNvSpPr/>
          <p:nvPr/>
        </p:nvSpPr>
        <p:spPr>
          <a:xfrm>
            <a:off x="1188720" y="3722624"/>
            <a:ext cx="3520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BA3C7"/>
                </a:solidFill>
              </a:rPr>
              <a:t>Qué: </a:t>
            </a:r>
            <a:r>
              <a:rPr lang="en-US" sz="850" dirty="0">
                <a:solidFill>
                  <a:srgbClr val="E0F0FF"/>
                </a:solidFill>
              </a:rPr>
              <a:t>Todos los modelos usaron submuestras (44–66% del train disponible). Entrenar RF y XGBoost sobre los 2.27M de registros completos.</a:t>
            </a:r>
            <a:endParaRPr lang="en-US" sz="850" dirty="0"/>
          </a:p>
        </p:txBody>
      </p:sp>
      <p:sp>
        <p:nvSpPr>
          <p:cNvPr id="68" name="Text 39">
            <a:extLst>
              <a:ext uri="{FF2B5EF4-FFF2-40B4-BE49-F238E27FC236}">
                <a16:creationId xmlns:a16="http://schemas.microsoft.com/office/drawing/2014/main" id="{0307D969-366F-47CD-BA59-24CDFF3D4894}"/>
              </a:ext>
            </a:extLst>
          </p:cNvPr>
          <p:cNvSpPr/>
          <p:nvPr/>
        </p:nvSpPr>
        <p:spPr>
          <a:xfrm>
            <a:off x="4800600" y="3722624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B300"/>
                </a:solidFill>
              </a:rPr>
              <a:t>Por qué: </a:t>
            </a:r>
            <a:r>
              <a:rPr lang="en-US" sz="850" dirty="0">
                <a:solidFill>
                  <a:srgbClr val="E0F0FF"/>
                </a:solidFill>
              </a:rPr>
              <a:t>La curva de aprendizaje muestra que los modelos aún no convergieron. Se estima una mejora de 0.005–0.02 pts de F1-macro adicionales.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1722</Words>
  <Application>Microsoft Office PowerPoint</Application>
  <PresentationFormat>Presentación en pantalla (16:9)</PresentationFormat>
  <Paragraphs>332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Arial</vt:lpstr>
      <vt:lpstr>Arial Black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Ecobici — Predicción de duración de viajes</dc:title>
  <dc:subject>PptxGenJS Presentation</dc:subject>
  <dc:creator>PptxGenJS</dc:creator>
  <cp:lastModifiedBy>Carmen Rodriguez</cp:lastModifiedBy>
  <cp:revision>5</cp:revision>
  <dcterms:created xsi:type="dcterms:W3CDTF">2026-06-08T23:56:03Z</dcterms:created>
  <dcterms:modified xsi:type="dcterms:W3CDTF">2026-06-09T00:33:32Z</dcterms:modified>
</cp:coreProperties>
</file>